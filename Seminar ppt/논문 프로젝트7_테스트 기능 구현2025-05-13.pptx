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21"/>
  </p:notesMasterIdLst>
  <p:sldIdLst>
    <p:sldId id="258" r:id="rId2"/>
    <p:sldId id="259" r:id="rId3"/>
    <p:sldId id="262" r:id="rId4"/>
    <p:sldId id="263" r:id="rId5"/>
    <p:sldId id="261" r:id="rId6"/>
    <p:sldId id="264" r:id="rId7"/>
    <p:sldId id="265" r:id="rId8"/>
    <p:sldId id="268" r:id="rId9"/>
    <p:sldId id="269" r:id="rId10"/>
    <p:sldId id="275" r:id="rId11"/>
    <p:sldId id="271" r:id="rId12"/>
    <p:sldId id="272" r:id="rId13"/>
    <p:sldId id="270" r:id="rId14"/>
    <p:sldId id="273" r:id="rId15"/>
    <p:sldId id="274" r:id="rId16"/>
    <p:sldId id="266" r:id="rId17"/>
    <p:sldId id="276" r:id="rId18"/>
    <p:sldId id="267" r:id="rId19"/>
    <p:sldId id="260" r:id="rId20"/>
  </p:sldIdLst>
  <p:sldSz cx="9144000" cy="6858000" type="screen4x3"/>
  <p:notesSz cx="6797675" cy="987425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/>
        <a:ea typeface="굴림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/>
        <a:ea typeface="굴림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/>
        <a:ea typeface="굴림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/>
        <a:ea typeface="굴림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배찬민" initials="배" lastIdx="0" clrIdx="0"/>
  <p:cmAuthor id="2" name="한설 고" initials="한고" lastIdx="2" clrIdx="1">
    <p:extLst>
      <p:ext uri="{19B8F6BF-5375-455C-9EA6-DF929625EA0E}">
        <p15:presenceInfo xmlns:p15="http://schemas.microsoft.com/office/powerpoint/2012/main" userId="2892c982dbaa564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C0000"/>
    <a:srgbClr val="B9B9B9"/>
    <a:srgbClr val="00CC99"/>
    <a:srgbClr val="FFFF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4" autoAdjust="0"/>
    <p:restoredTop sz="83657" autoAdjust="0"/>
  </p:normalViewPr>
  <p:slideViewPr>
    <p:cSldViewPr>
      <p:cViewPr varScale="1">
        <p:scale>
          <a:sx n="108" d="100"/>
          <a:sy n="108" d="100"/>
        </p:scale>
        <p:origin x="2159" y="7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452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-3432" y="-102"/>
      </p:cViewPr>
      <p:guideLst>
        <p:guide orient="horz" pos="3110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350" cy="493247"/>
          </a:xfrm>
          <a:prstGeom prst="rect">
            <a:avLst/>
          </a:prstGeom>
        </p:spPr>
        <p:txBody>
          <a:bodyPr vert="horz" lIns="89264" tIns="44632" rIns="89264" bIns="44632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778" y="1"/>
            <a:ext cx="2945350" cy="493247"/>
          </a:xfrm>
          <a:prstGeom prst="rect">
            <a:avLst/>
          </a:prstGeom>
        </p:spPr>
        <p:txBody>
          <a:bodyPr vert="horz" lIns="89264" tIns="44632" rIns="89264" bIns="44632" rtlCol="0"/>
          <a:lstStyle>
            <a:lvl1pPr algn="r">
              <a:defRPr sz="1200"/>
            </a:lvl1pPr>
          </a:lstStyle>
          <a:p>
            <a:fld id="{57764B8E-7EC0-4B59-8DA5-E04CAE3DB5F2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9264" tIns="44632" rIns="89264" bIns="44632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9" y="4690502"/>
            <a:ext cx="5438759" cy="4443878"/>
          </a:xfrm>
          <a:prstGeom prst="rect">
            <a:avLst/>
          </a:prstGeom>
        </p:spPr>
        <p:txBody>
          <a:bodyPr vert="horz" lIns="89264" tIns="44632" rIns="89264" bIns="44632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9453"/>
            <a:ext cx="2945350" cy="493247"/>
          </a:xfrm>
          <a:prstGeom prst="rect">
            <a:avLst/>
          </a:prstGeom>
        </p:spPr>
        <p:txBody>
          <a:bodyPr vert="horz" lIns="89264" tIns="44632" rIns="89264" bIns="44632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778" y="9379453"/>
            <a:ext cx="2945350" cy="493247"/>
          </a:xfrm>
          <a:prstGeom prst="rect">
            <a:avLst/>
          </a:prstGeom>
        </p:spPr>
        <p:txBody>
          <a:bodyPr vert="horz" lIns="89264" tIns="44632" rIns="89264" bIns="44632" rtlCol="0" anchor="b"/>
          <a:lstStyle>
            <a:lvl1pPr algn="r">
              <a:defRPr sz="1200"/>
            </a:lvl1pPr>
          </a:lstStyle>
          <a:p>
            <a:fld id="{420F09F9-D812-4758-8566-A65BCCCBDD8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8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0F09F9-D812-4758-8566-A65BCCCBDD8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648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0F09F9-D812-4758-8566-A65BCCCBDD8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1035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0F09F9-D812-4758-8566-A65BCCCBDD8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630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0F09F9-D812-4758-8566-A65BCCCBDD8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834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0F09F9-D812-4758-8566-A65BCCCBDD8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0656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0F09F9-D812-4758-8566-A65BCCCBDD8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0787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>
            <a:spLocks noChangeArrowheads="1"/>
          </p:cNvSpPr>
          <p:nvPr/>
        </p:nvSpPr>
        <p:spPr bwMode="auto">
          <a:xfrm rot="5400000">
            <a:off x="-2432843" y="2432843"/>
            <a:ext cx="5334000" cy="468313"/>
          </a:xfrm>
          <a:prstGeom prst="rect">
            <a:avLst/>
          </a:prstGeom>
          <a:gradFill rotWithShape="0">
            <a:gsLst>
              <a:gs pos="0">
                <a:srgbClr val="000066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Box 14"/>
          <p:cNvSpPr txBox="1">
            <a:spLocks noChangeArrowheads="1"/>
          </p:cNvSpPr>
          <p:nvPr/>
        </p:nvSpPr>
        <p:spPr bwMode="auto">
          <a:xfrm rot="16200000">
            <a:off x="-1194593" y="1250156"/>
            <a:ext cx="280828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ko-KR" sz="2000" b="1" i="1">
                <a:solidFill>
                  <a:srgbClr val="000066"/>
                </a:solidFill>
              </a:rPr>
              <a:t>Computer System</a:t>
            </a:r>
            <a:r>
              <a:rPr lang="en-US" altLang="ko-KR" sz="2000" b="1" i="1">
                <a:solidFill>
                  <a:srgbClr val="0000FF"/>
                </a:solidFill>
              </a:rPr>
              <a:t>  </a:t>
            </a:r>
            <a:r>
              <a:rPr lang="en-US" altLang="ko-KR" sz="2000" b="1" i="1">
                <a:solidFill>
                  <a:schemeClr val="bg1"/>
                </a:solidFill>
              </a:rPr>
              <a:t>Lab.</a:t>
            </a:r>
          </a:p>
        </p:txBody>
      </p:sp>
      <p:sp>
        <p:nvSpPr>
          <p:cNvPr id="6" name="Text Box 15"/>
          <p:cNvSpPr txBox="1">
            <a:spLocks noChangeArrowheads="1"/>
          </p:cNvSpPr>
          <p:nvPr/>
        </p:nvSpPr>
        <p:spPr bwMode="auto">
          <a:xfrm rot="16200000">
            <a:off x="-373062" y="5205413"/>
            <a:ext cx="12954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ko-KR" sz="1600" b="1" i="1">
                <a:solidFill>
                  <a:srgbClr val="000066"/>
                </a:solidFill>
              </a:rPr>
              <a:t>University</a:t>
            </a:r>
            <a:endParaRPr lang="en-US" altLang="ko-KR" sz="1600" b="1" i="1">
              <a:solidFill>
                <a:schemeClr val="bg1"/>
              </a:solidFill>
            </a:endParaRPr>
          </a:p>
        </p:txBody>
      </p:sp>
      <p:pic>
        <p:nvPicPr>
          <p:cNvPr id="7" name="Picture 1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925" y="5805488"/>
            <a:ext cx="381000" cy="9239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</p:spPr>
      </p:pic>
      <p:sp>
        <p:nvSpPr>
          <p:cNvPr id="51202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685800" y="1752600"/>
            <a:ext cx="7772400" cy="1981200"/>
          </a:xfrm>
        </p:spPr>
        <p:txBody>
          <a:bodyPr anchor="ctr" anchorCtr="1">
            <a:normAutofit/>
          </a:bodyPr>
          <a:lstStyle>
            <a:lvl1pPr algn="ctr">
              <a:defRPr/>
            </a:lvl1pPr>
          </a:lstStyle>
          <a:p>
            <a:r>
              <a:rPr lang="ko-KR" altLang="en-US" dirty="0"/>
              <a:t>세미나 제목</a:t>
            </a:r>
            <a:endParaRPr lang="en-US" altLang="ko-KR" dirty="0"/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371600" y="3886200"/>
            <a:ext cx="6400800" cy="28194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ko-KR" altLang="en-US" dirty="0"/>
              <a:t>순천향대학교</a:t>
            </a:r>
            <a:endParaRPr lang="en-US" altLang="ko-KR" dirty="0"/>
          </a:p>
          <a:p>
            <a:r>
              <a:rPr lang="ko-KR" altLang="en-US" dirty="0"/>
              <a:t>컴퓨터시스템연구실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유동균</a:t>
            </a:r>
            <a:endParaRPr lang="en-US" altLang="ko-KR" dirty="0"/>
          </a:p>
          <a:p>
            <a:r>
              <a:rPr lang="en-US" altLang="ko-KR" dirty="0"/>
              <a:t>23/12/26</a:t>
            </a:r>
            <a:endParaRPr lang="ko-KR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ea typeface="굴림" charset="-127"/>
              </a:defRPr>
            </a:lvl1pPr>
          </a:lstStyle>
          <a:p>
            <a:pPr>
              <a:defRPr/>
            </a:pPr>
            <a:fld id="{87A7431B-603E-467D-882E-3062B6363ECA}" type="slidenum">
              <a:rPr lang="en-US" altLang="ko-KR" smtClean="0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>
          <a:xfrm>
            <a:off x="838200" y="1676400"/>
            <a:ext cx="7772400" cy="76200"/>
          </a:xfrm>
          <a:prstGeom prst="rect">
            <a:avLst/>
          </a:prstGeom>
          <a:solidFill>
            <a:srgbClr val="003E7C"/>
          </a:solidFill>
          <a:ln w="9525">
            <a:noFill/>
            <a:miter/>
          </a:ln>
        </p:spPr>
        <p:txBody>
          <a:bodyPr wrap="none" anchor="ctr"/>
          <a:lstStyle/>
          <a:p>
            <a:pPr algn="ctr"/>
            <a:endParaRPr lang="en-US" altLang="ko-KR">
              <a:solidFill>
                <a:schemeClr val="accent2"/>
              </a:solidFill>
              <a:latin typeface="굴림"/>
            </a:endParaRPr>
          </a:p>
        </p:txBody>
      </p:sp>
      <p:sp>
        <p:nvSpPr>
          <p:cNvPr id="12" name="Rectangle 5"/>
          <p:cNvSpPr>
            <a:spLocks noChangeArrowheads="1"/>
          </p:cNvSpPr>
          <p:nvPr/>
        </p:nvSpPr>
        <p:spPr>
          <a:xfrm>
            <a:off x="1116013" y="3548063"/>
            <a:ext cx="7272337" cy="87312"/>
          </a:xfrm>
          <a:prstGeom prst="rect">
            <a:avLst/>
          </a:prstGeom>
          <a:solidFill>
            <a:srgbClr val="003E7C"/>
          </a:solidFill>
          <a:ln w="9525">
            <a:noFill/>
            <a:miter/>
          </a:ln>
        </p:spPr>
        <p:txBody>
          <a:bodyPr wrap="none" anchor="ctr"/>
          <a:lstStyle/>
          <a:p>
            <a:pPr algn="ctr"/>
            <a:endParaRPr lang="en-US" altLang="ko-KR">
              <a:solidFill>
                <a:schemeClr val="accent2"/>
              </a:solidFill>
              <a:latin typeface="굴림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 rot="16200000">
            <a:off x="-1194593" y="1250156"/>
            <a:ext cx="280828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ko-KR" sz="2000" b="1" i="1">
                <a:solidFill>
                  <a:srgbClr val="000066"/>
                </a:solidFill>
              </a:rPr>
              <a:t>Computer System</a:t>
            </a:r>
            <a:r>
              <a:rPr lang="en-US" altLang="ko-KR" sz="2000" b="1" i="1">
                <a:solidFill>
                  <a:srgbClr val="0000FF"/>
                </a:solidFill>
              </a:rPr>
              <a:t>  </a:t>
            </a:r>
            <a:r>
              <a:rPr lang="en-US" altLang="ko-KR" sz="2000" b="1" i="1">
                <a:solidFill>
                  <a:schemeClr val="bg1"/>
                </a:solidFill>
              </a:rPr>
              <a:t>Lab.</a:t>
            </a:r>
          </a:p>
        </p:txBody>
      </p:sp>
      <p:sp>
        <p:nvSpPr>
          <p:cNvPr id="14" name="Text Box 15"/>
          <p:cNvSpPr txBox="1">
            <a:spLocks noChangeArrowheads="1"/>
          </p:cNvSpPr>
          <p:nvPr/>
        </p:nvSpPr>
        <p:spPr bwMode="auto">
          <a:xfrm rot="16200000">
            <a:off x="-373062" y="5205413"/>
            <a:ext cx="12954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ko-KR" sz="1600" b="1" i="1">
                <a:solidFill>
                  <a:srgbClr val="000066"/>
                </a:solidFill>
              </a:rPr>
              <a:t>University</a:t>
            </a:r>
            <a:endParaRPr lang="en-US" altLang="ko-KR" sz="1600" b="1" i="1">
              <a:solidFill>
                <a:schemeClr val="bg1"/>
              </a:solidFill>
            </a:endParaRPr>
          </a:p>
        </p:txBody>
      </p:sp>
      <p:pic>
        <p:nvPicPr>
          <p:cNvPr id="15" name="Picture 1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925" y="5805488"/>
            <a:ext cx="381000" cy="9239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</p:spPr>
      </p:pic>
      <p:sp>
        <p:nvSpPr>
          <p:cNvPr id="16" name="Rectangle 4"/>
          <p:cNvSpPr>
            <a:spLocks noChangeArrowheads="1"/>
          </p:cNvSpPr>
          <p:nvPr/>
        </p:nvSpPr>
        <p:spPr>
          <a:xfrm>
            <a:off x="838200" y="1676400"/>
            <a:ext cx="7772400" cy="76200"/>
          </a:xfrm>
          <a:prstGeom prst="rect">
            <a:avLst/>
          </a:prstGeom>
          <a:solidFill>
            <a:srgbClr val="003E7C"/>
          </a:solidFill>
          <a:ln w="9525">
            <a:noFill/>
            <a:miter/>
          </a:ln>
        </p:spPr>
        <p:txBody>
          <a:bodyPr wrap="none" anchor="ctr"/>
          <a:lstStyle/>
          <a:p>
            <a:pPr algn="ctr"/>
            <a:endParaRPr lang="en-US" altLang="ko-KR">
              <a:solidFill>
                <a:schemeClr val="accent2"/>
              </a:solidFill>
              <a:latin typeface="굴림"/>
            </a:endParaRPr>
          </a:p>
        </p:txBody>
      </p:sp>
      <p:sp>
        <p:nvSpPr>
          <p:cNvPr id="17" name="Rectangle 5"/>
          <p:cNvSpPr>
            <a:spLocks noChangeArrowheads="1"/>
          </p:cNvSpPr>
          <p:nvPr/>
        </p:nvSpPr>
        <p:spPr>
          <a:xfrm>
            <a:off x="1116013" y="3548063"/>
            <a:ext cx="7272337" cy="87312"/>
          </a:xfrm>
          <a:prstGeom prst="rect">
            <a:avLst/>
          </a:prstGeom>
          <a:solidFill>
            <a:srgbClr val="003E7C"/>
          </a:solidFill>
          <a:ln w="9525">
            <a:noFill/>
            <a:miter/>
          </a:ln>
        </p:spPr>
        <p:txBody>
          <a:bodyPr wrap="none" anchor="ctr"/>
          <a:lstStyle/>
          <a:p>
            <a:pPr algn="ctr"/>
            <a:endParaRPr lang="en-US" altLang="ko-KR">
              <a:solidFill>
                <a:schemeClr val="accent2"/>
              </a:solidFill>
              <a:latin typeface="굴림"/>
            </a:endParaRPr>
          </a:p>
        </p:txBody>
      </p:sp>
      <p:sp>
        <p:nvSpPr>
          <p:cNvPr id="18" name="Text Box 14"/>
          <p:cNvSpPr txBox="1">
            <a:spLocks noChangeArrowheads="1"/>
          </p:cNvSpPr>
          <p:nvPr userDrawn="1"/>
        </p:nvSpPr>
        <p:spPr bwMode="auto">
          <a:xfrm rot="16200000">
            <a:off x="-1194593" y="1250156"/>
            <a:ext cx="280828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ko-KR" sz="2000" b="1" i="1">
                <a:solidFill>
                  <a:srgbClr val="000066"/>
                </a:solidFill>
              </a:rPr>
              <a:t>Computer System</a:t>
            </a:r>
            <a:r>
              <a:rPr lang="en-US" altLang="ko-KR" sz="2000" b="1" i="1">
                <a:solidFill>
                  <a:srgbClr val="0000FF"/>
                </a:solidFill>
              </a:rPr>
              <a:t>  </a:t>
            </a:r>
            <a:r>
              <a:rPr lang="en-US" altLang="ko-KR" sz="2000" b="1" i="1">
                <a:solidFill>
                  <a:schemeClr val="bg1"/>
                </a:solidFill>
              </a:rPr>
              <a:t>Lab.</a:t>
            </a:r>
          </a:p>
        </p:txBody>
      </p:sp>
      <p:sp>
        <p:nvSpPr>
          <p:cNvPr id="19" name="Text Box 15"/>
          <p:cNvSpPr txBox="1">
            <a:spLocks noChangeArrowheads="1"/>
          </p:cNvSpPr>
          <p:nvPr userDrawn="1"/>
        </p:nvSpPr>
        <p:spPr bwMode="auto">
          <a:xfrm rot="16200000">
            <a:off x="-373062" y="5205413"/>
            <a:ext cx="12954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ko-KR" sz="1600" b="1" i="1">
                <a:solidFill>
                  <a:srgbClr val="000066"/>
                </a:solidFill>
              </a:rPr>
              <a:t>University</a:t>
            </a:r>
            <a:endParaRPr lang="en-US" altLang="ko-KR" sz="1600" b="1" i="1">
              <a:solidFill>
                <a:schemeClr val="bg1"/>
              </a:solidFill>
            </a:endParaRPr>
          </a:p>
        </p:txBody>
      </p:sp>
      <p:pic>
        <p:nvPicPr>
          <p:cNvPr id="20" name="Picture 16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925" y="5805488"/>
            <a:ext cx="381000" cy="9239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</p:spPr>
      </p:pic>
      <p:sp>
        <p:nvSpPr>
          <p:cNvPr id="21" name="Rectangle 4"/>
          <p:cNvSpPr>
            <a:spLocks noChangeArrowheads="1"/>
          </p:cNvSpPr>
          <p:nvPr userDrawn="1"/>
        </p:nvSpPr>
        <p:spPr>
          <a:xfrm>
            <a:off x="838200" y="1676400"/>
            <a:ext cx="7772400" cy="76200"/>
          </a:xfrm>
          <a:prstGeom prst="rect">
            <a:avLst/>
          </a:prstGeom>
          <a:solidFill>
            <a:srgbClr val="003E7C"/>
          </a:solidFill>
          <a:ln w="9525">
            <a:noFill/>
            <a:miter/>
          </a:ln>
        </p:spPr>
        <p:txBody>
          <a:bodyPr wrap="none" anchor="ctr"/>
          <a:lstStyle/>
          <a:p>
            <a:pPr algn="ctr"/>
            <a:endParaRPr lang="en-US" altLang="ko-KR">
              <a:solidFill>
                <a:schemeClr val="accent2"/>
              </a:solidFill>
              <a:latin typeface="굴림"/>
            </a:endParaRPr>
          </a:p>
        </p:txBody>
      </p:sp>
      <p:sp>
        <p:nvSpPr>
          <p:cNvPr id="22" name="Rectangle 5"/>
          <p:cNvSpPr>
            <a:spLocks noChangeArrowheads="1"/>
          </p:cNvSpPr>
          <p:nvPr userDrawn="1"/>
        </p:nvSpPr>
        <p:spPr>
          <a:xfrm>
            <a:off x="1116013" y="3548063"/>
            <a:ext cx="7272337" cy="87312"/>
          </a:xfrm>
          <a:prstGeom prst="rect">
            <a:avLst/>
          </a:prstGeom>
          <a:solidFill>
            <a:srgbClr val="003E7C"/>
          </a:solidFill>
          <a:ln w="9525">
            <a:noFill/>
            <a:miter/>
          </a:ln>
        </p:spPr>
        <p:txBody>
          <a:bodyPr wrap="none" anchor="ctr"/>
          <a:lstStyle/>
          <a:p>
            <a:pPr algn="ctr"/>
            <a:endParaRPr lang="en-US" altLang="ko-KR">
              <a:solidFill>
                <a:schemeClr val="accent2"/>
              </a:solidFill>
              <a:latin typeface="굴림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55650" y="158820"/>
            <a:ext cx="8137525" cy="707886"/>
          </a:xfrm>
        </p:spPr>
        <p:txBody>
          <a:bodyPr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b="0"/>
            </a:lvl1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28675" y="1052513"/>
            <a:ext cx="3919538" cy="52720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00613" y="1052513"/>
            <a:ext cx="3919537" cy="52720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2"/>
          <p:cNvSpPr>
            <a:spLocks noChangeArrowheads="1"/>
          </p:cNvSpPr>
          <p:nvPr/>
        </p:nvSpPr>
        <p:spPr bwMode="gray">
          <a:xfrm>
            <a:off x="804863" y="1484313"/>
            <a:ext cx="8088312" cy="4892675"/>
          </a:xfrm>
          <a:prstGeom prst="ellipse">
            <a:avLst/>
          </a:prstGeom>
          <a:gradFill rotWithShape="0">
            <a:gsLst>
              <a:gs pos="0">
                <a:srgbClr val="FFFF99"/>
              </a:gs>
              <a:gs pos="100000">
                <a:srgbClr val="FFFFFF"/>
              </a:gs>
            </a:gsLst>
            <a:path path="shape">
              <a:fillToRect l="50000" t="50000" r="50000" b="50000"/>
            </a:path>
          </a:gradFill>
          <a:ln w="9525">
            <a:noFill/>
            <a:round/>
          </a:ln>
        </p:spPr>
        <p:txBody>
          <a:bodyPr wrap="none" anchor="ctr"/>
          <a:lstStyle/>
          <a:p>
            <a:pPr algn="ctr"/>
            <a:endParaRPr lang="ko-KR" altLang="en-US"/>
          </a:p>
        </p:txBody>
      </p:sp>
      <p:pic>
        <p:nvPicPr>
          <p:cNvPr id="4" name="Picture 4" descr="PE01962_"/>
          <p:cNvPicPr>
            <a:picLocks noChangeAspect="1" noChangeArrowheads="1"/>
          </p:cNvPicPr>
          <p:nvPr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1319213" y="3810000"/>
            <a:ext cx="2362200" cy="2241550"/>
          </a:xfrm>
          <a:prstGeom prst="rect">
            <a:avLst/>
          </a:prstGeom>
          <a:noFill/>
          <a:ln w="9525">
            <a:noFill/>
            <a:miter/>
          </a:ln>
        </p:spPr>
      </p:pic>
      <p:sp>
        <p:nvSpPr>
          <p:cNvPr id="5" name="Text Box 5"/>
          <p:cNvSpPr txBox="1">
            <a:spLocks noChangeArrowheads="1"/>
          </p:cNvSpPr>
          <p:nvPr/>
        </p:nvSpPr>
        <p:spPr bwMode="gray">
          <a:xfrm>
            <a:off x="4643438" y="2468563"/>
            <a:ext cx="3961010" cy="2031325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CC99FF"/>
              </a:gs>
            </a:gsLst>
            <a:path path="shape">
              <a:fillToRect l="50000" t="50000" r="50000" b="50000"/>
            </a:path>
          </a:gradFill>
          <a:ln w="9525">
            <a:solidFill>
              <a:schemeClr val="tx1"/>
            </a:solidFill>
            <a:miter/>
          </a:ln>
          <a:effectLst>
            <a:outerShdw dist="107763" dir="8100000" algn="ctr" rotWithShape="0">
              <a:srgbClr val="868686"/>
            </a:outerShdw>
          </a:effectLst>
        </p:spPr>
        <p:txBody>
          <a:bodyPr wrap="square">
            <a:spAutoFit/>
          </a:bodyPr>
          <a:lstStyle/>
          <a:p>
            <a:r>
              <a:rPr lang="en-US" altLang="ko-KR" sz="1800" b="1" dirty="0">
                <a:latin typeface="Arial"/>
                <a:ea typeface="굴림"/>
              </a:rPr>
              <a:t>Please contact :</a:t>
            </a:r>
          </a:p>
          <a:p>
            <a:endParaRPr lang="en-US" altLang="ko-KR" sz="1800" b="1" dirty="0">
              <a:latin typeface="Arial"/>
              <a:ea typeface="굴림"/>
            </a:endParaRPr>
          </a:p>
          <a:p>
            <a:r>
              <a:rPr lang="ko-KR" altLang="en-US" sz="1800" b="1" dirty="0" err="1">
                <a:latin typeface="HY헤드라인M"/>
                <a:ea typeface="HY헤드라인M"/>
              </a:rPr>
              <a:t>유동균</a:t>
            </a:r>
            <a:endParaRPr lang="en-US" altLang="ko-KR" sz="1800" b="1" dirty="0">
              <a:latin typeface="HY헤드라인M"/>
              <a:ea typeface="HY헤드라인M"/>
            </a:endParaRPr>
          </a:p>
          <a:p>
            <a:r>
              <a:rPr lang="ko-KR" altLang="en-US" sz="1800" b="1" dirty="0">
                <a:latin typeface="HY헤드라인M"/>
                <a:ea typeface="HY헤드라인M"/>
              </a:rPr>
              <a:t>순천향대학교 컴퓨터공학과</a:t>
            </a:r>
          </a:p>
          <a:p>
            <a:r>
              <a:rPr lang="ko-KR" altLang="en-US" sz="1800" b="1" dirty="0">
                <a:latin typeface="HY헤드라인M"/>
                <a:ea typeface="HY헤드라인M"/>
              </a:rPr>
              <a:t>멀티미디어관 </a:t>
            </a:r>
            <a:r>
              <a:rPr lang="en-US" altLang="ko-KR" sz="1800" b="1" dirty="0">
                <a:latin typeface="HY헤드라인M"/>
                <a:ea typeface="HY헤드라인M"/>
              </a:rPr>
              <a:t>M606</a:t>
            </a:r>
          </a:p>
          <a:p>
            <a:endParaRPr lang="en-US" altLang="ko-KR" sz="1800" b="1" dirty="0">
              <a:latin typeface="HY헤드라인M"/>
              <a:ea typeface="HY헤드라인M"/>
            </a:endParaRPr>
          </a:p>
          <a:p>
            <a:r>
              <a:rPr lang="en-US" altLang="ko-KR" sz="1800" b="1" dirty="0">
                <a:latin typeface="Arial"/>
                <a:ea typeface="굴림"/>
              </a:rPr>
              <a:t>Email : a67422830@gmail.com</a:t>
            </a:r>
            <a:endParaRPr lang="ko-KR" altLang="en-US" sz="1800" b="1" dirty="0">
              <a:latin typeface="Arial"/>
              <a:ea typeface="굴림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55576" y="116632"/>
            <a:ext cx="53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i="1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 rotWithShape="0">
                    <a:srgbClr val="000000">
                      <a:alpha val="40000"/>
                    </a:srgbClr>
                  </a:outerShdw>
                </a:effectLst>
                <a:latin typeface="+mn-ea"/>
                <a:cs typeface="Times New Roman"/>
              </a:rPr>
              <a:t>Question?</a:t>
            </a:r>
            <a:endParaRPr lang="ko-KR" altLang="en-US" sz="4000" b="1" i="1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755576" y="116632"/>
            <a:ext cx="53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i="1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 rotWithShape="0">
                    <a:srgbClr val="000000">
                      <a:alpha val="40000"/>
                    </a:srgbClr>
                  </a:outerShdw>
                </a:effectLst>
                <a:latin typeface="+mn-ea"/>
                <a:cs typeface="Times New Roman"/>
              </a:rPr>
              <a:t>Question?</a:t>
            </a:r>
            <a:endParaRPr lang="ko-KR" altLang="en-US" sz="4000" b="1" i="1">
              <a:latin typeface="+mj-ea"/>
              <a:ea typeface="+mj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59588" y="188913"/>
            <a:ext cx="2033587" cy="61356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55650" y="188913"/>
            <a:ext cx="5951538" cy="61356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2"/>
          <p:cNvSpPr>
            <a:spLocks noChangeArrowheads="1"/>
          </p:cNvSpPr>
          <p:nvPr/>
        </p:nvSpPr>
        <p:spPr bwMode="gray">
          <a:xfrm>
            <a:off x="804863" y="1484313"/>
            <a:ext cx="8088312" cy="4892675"/>
          </a:xfrm>
          <a:prstGeom prst="ellipse">
            <a:avLst/>
          </a:prstGeom>
          <a:gradFill rotWithShape="0">
            <a:gsLst>
              <a:gs pos="0">
                <a:srgbClr val="FFFF99"/>
              </a:gs>
              <a:gs pos="100000">
                <a:srgbClr val="FFFFFF"/>
              </a:gs>
            </a:gsLst>
            <a:path path="shape">
              <a:fillToRect l="50000" t="50000" r="50000" b="50000"/>
            </a:path>
          </a:gradFill>
          <a:ln w="9525">
            <a:noFill/>
            <a:round/>
          </a:ln>
        </p:spPr>
        <p:txBody>
          <a:bodyPr wrap="none" anchor="ctr"/>
          <a:lstStyle/>
          <a:p>
            <a:pPr algn="ctr"/>
            <a:endParaRPr lang="ko-KR" altLang="en-US"/>
          </a:p>
        </p:txBody>
      </p:sp>
      <p:pic>
        <p:nvPicPr>
          <p:cNvPr id="4" name="Picture 4" descr="PE01962_"/>
          <p:cNvPicPr>
            <a:picLocks noChangeAspect="1" noChangeArrowheads="1"/>
          </p:cNvPicPr>
          <p:nvPr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1319213" y="3810000"/>
            <a:ext cx="2362200" cy="2241550"/>
          </a:xfrm>
          <a:prstGeom prst="rect">
            <a:avLst/>
          </a:prstGeom>
          <a:noFill/>
          <a:ln w="9525">
            <a:noFill/>
            <a:miter/>
          </a:ln>
        </p:spPr>
      </p:pic>
      <p:sp>
        <p:nvSpPr>
          <p:cNvPr id="5" name="Text Box 5"/>
          <p:cNvSpPr txBox="1">
            <a:spLocks noChangeArrowheads="1"/>
          </p:cNvSpPr>
          <p:nvPr/>
        </p:nvSpPr>
        <p:spPr bwMode="gray">
          <a:xfrm>
            <a:off x="4643438" y="2468563"/>
            <a:ext cx="3961010" cy="1754326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CC99FF"/>
              </a:gs>
            </a:gsLst>
            <a:path path="shape">
              <a:fillToRect l="50000" t="50000" r="50000" b="50000"/>
            </a:path>
          </a:gradFill>
          <a:ln w="9525">
            <a:solidFill>
              <a:schemeClr val="tx1"/>
            </a:solidFill>
            <a:miter/>
          </a:ln>
          <a:effectLst>
            <a:outerShdw dist="107763" dir="8100000" algn="ctr" rotWithShape="0">
              <a:srgbClr val="868686"/>
            </a:outerShdw>
          </a:effectLst>
        </p:spPr>
        <p:txBody>
          <a:bodyPr wrap="square">
            <a:spAutoFit/>
          </a:bodyPr>
          <a:lstStyle/>
          <a:p>
            <a:r>
              <a:rPr lang="en-US" altLang="ko-KR" sz="1800" b="1" dirty="0">
                <a:latin typeface="Arial"/>
                <a:ea typeface="굴림"/>
              </a:rPr>
              <a:t>Please contact :</a:t>
            </a:r>
          </a:p>
          <a:p>
            <a:endParaRPr lang="en-US" altLang="ko-KR" sz="1800" b="1" dirty="0">
              <a:latin typeface="Arial"/>
              <a:ea typeface="굴림"/>
            </a:endParaRPr>
          </a:p>
          <a:p>
            <a:r>
              <a:rPr lang="ko-KR" altLang="en-US" sz="1800" b="1" dirty="0" err="1">
                <a:latin typeface="HY헤드라인M"/>
                <a:ea typeface="HY헤드라인M"/>
              </a:rPr>
              <a:t>유동균</a:t>
            </a:r>
            <a:endParaRPr lang="en-US" altLang="ko-KR" sz="1800" b="1" dirty="0">
              <a:latin typeface="HY헤드라인M"/>
              <a:ea typeface="HY헤드라인M"/>
            </a:endParaRPr>
          </a:p>
          <a:p>
            <a:r>
              <a:rPr lang="ko-KR" altLang="en-US" sz="1800" b="1" dirty="0">
                <a:latin typeface="HY헤드라인M"/>
                <a:ea typeface="HY헤드라인M"/>
              </a:rPr>
              <a:t>순천향대학교 컴퓨터공학과</a:t>
            </a:r>
          </a:p>
          <a:p>
            <a:r>
              <a:rPr lang="ko-KR" altLang="en-US" sz="1800" b="1" dirty="0">
                <a:latin typeface="HY헤드라인M"/>
                <a:ea typeface="HY헤드라인M"/>
              </a:rPr>
              <a:t>멀티미디어관 </a:t>
            </a:r>
            <a:r>
              <a:rPr lang="en-US" altLang="ko-KR" sz="1800" b="1" dirty="0">
                <a:latin typeface="HY헤드라인M"/>
                <a:ea typeface="HY헤드라인M"/>
              </a:rPr>
              <a:t>M606</a:t>
            </a:r>
          </a:p>
          <a:p>
            <a:endParaRPr lang="en-US" altLang="ko-KR" sz="1800" b="1" dirty="0">
              <a:latin typeface="HY헤드라인M"/>
              <a:ea typeface="HY헤드라인M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755576" y="116632"/>
            <a:ext cx="53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i="1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 rotWithShape="0">
                    <a:srgbClr val="000000">
                      <a:alpha val="40000"/>
                    </a:srgbClr>
                  </a:outerShdw>
                </a:effectLst>
                <a:latin typeface="+mn-ea"/>
                <a:cs typeface="Times New Roman"/>
              </a:rPr>
              <a:t>Question?</a:t>
            </a:r>
            <a:endParaRPr lang="ko-KR" altLang="en-US" sz="4000" b="1" i="1">
              <a:latin typeface="+mj-ea"/>
              <a:ea typeface="+mj-e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188913"/>
            <a:ext cx="8137525" cy="6477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/>
          <a:lstStyle/>
          <a:p>
            <a:pPr lvl="0"/>
            <a:r>
              <a:rPr lang="ko-KR" altLang="en-US"/>
              <a:t>마스터 제목 유형을 편집하려면 누르십시오</a:t>
            </a:r>
            <a:r>
              <a:rPr lang="en-US" altLang="ko-KR"/>
              <a:t>. 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8675" y="1052513"/>
            <a:ext cx="7991475" cy="5272087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t" anchorCtr="0"/>
          <a:lstStyle/>
          <a:p>
            <a:pPr lvl="0"/>
            <a:r>
              <a:rPr lang="ko-KR" altLang="en-US"/>
              <a:t>마스터 문자열 유형을 편집하려면 누르십시오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세째 수준</a:t>
            </a:r>
          </a:p>
          <a:p>
            <a:pPr lvl="3"/>
            <a:r>
              <a:rPr lang="ko-KR" altLang="en-US"/>
              <a:t>네째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0182" name="Rectangle 6"/>
          <p:cNvSpPr>
            <a:spLocks noChangeArrowheads="1"/>
          </p:cNvSpPr>
          <p:nvPr/>
        </p:nvSpPr>
        <p:spPr>
          <a:xfrm>
            <a:off x="684213" y="908050"/>
            <a:ext cx="8459787" cy="69850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rgbClr val="000066"/>
              </a:gs>
            </a:gsLst>
            <a:lin ang="0" scaled="1"/>
          </a:gradFill>
          <a:ln w="9525">
            <a:noFill/>
            <a:miter/>
          </a:ln>
          <a:effectLst/>
        </p:spPr>
        <p:txBody>
          <a:bodyPr wrap="none" anchor="ctr"/>
          <a:lstStyle/>
          <a:p>
            <a:pPr algn="ctr"/>
            <a:endParaRPr lang="ko-KR" altLang="en-US"/>
          </a:p>
        </p:txBody>
      </p:sp>
      <p:sp>
        <p:nvSpPr>
          <p:cNvPr id="50184" name="Rectangle 8"/>
          <p:cNvSpPr>
            <a:spLocks noChangeArrowheads="1"/>
          </p:cNvSpPr>
          <p:nvPr/>
        </p:nvSpPr>
        <p:spPr>
          <a:xfrm>
            <a:off x="6988175" y="6477000"/>
            <a:ext cx="1905000" cy="381000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/>
          <a:lstStyle/>
          <a:p>
            <a:pPr algn="r"/>
            <a:fld id="{467224BF-58AA-4D3F-AC6F-AA05367478A1}" type="slidenum">
              <a:rPr lang="en-US" altLang="ko-KR" sz="1400"/>
              <a:pPr algn="r"/>
              <a:t>‹#›</a:t>
            </a:fld>
            <a:endParaRPr lang="en-US" altLang="ko-KR" sz="1400"/>
          </a:p>
        </p:txBody>
      </p:sp>
      <p:sp>
        <p:nvSpPr>
          <p:cNvPr id="50188" name="Rectangle 12"/>
          <p:cNvSpPr>
            <a:spLocks noChangeArrowheads="1"/>
          </p:cNvSpPr>
          <p:nvPr/>
        </p:nvSpPr>
        <p:spPr>
          <a:xfrm rot="5400000">
            <a:off x="-2432843" y="2432843"/>
            <a:ext cx="5334000" cy="468313"/>
          </a:xfrm>
          <a:prstGeom prst="rect">
            <a:avLst/>
          </a:prstGeom>
          <a:gradFill rotWithShape="0">
            <a:gsLst>
              <a:gs pos="0">
                <a:srgbClr val="000066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/>
          </a:ln>
          <a:effectLst/>
        </p:spPr>
        <p:txBody>
          <a:bodyPr wrap="none" anchor="ctr"/>
          <a:lstStyle/>
          <a:p>
            <a:pPr algn="ctr"/>
            <a:endParaRPr lang="ko-KR" altLang="en-US"/>
          </a:p>
        </p:txBody>
      </p:sp>
      <p:sp>
        <p:nvSpPr>
          <p:cNvPr id="50195" name="Text Box 19"/>
          <p:cNvSpPr txBox="1">
            <a:spLocks noChangeArrowheads="1"/>
          </p:cNvSpPr>
          <p:nvPr/>
        </p:nvSpPr>
        <p:spPr>
          <a:xfrm rot="16200000">
            <a:off x="-1194593" y="1250156"/>
            <a:ext cx="2808288" cy="396875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>
            <a:spAutoFit/>
          </a:bodyPr>
          <a:lstStyle/>
          <a:p>
            <a:pPr algn="ctr"/>
            <a:r>
              <a:rPr lang="en-US" altLang="ko-KR" sz="2000" b="1" i="1">
                <a:solidFill>
                  <a:srgbClr val="000066"/>
                </a:solidFill>
              </a:rPr>
              <a:t>Computer System</a:t>
            </a:r>
            <a:r>
              <a:rPr lang="en-US" altLang="ko-KR" sz="2000" b="1" i="1">
                <a:solidFill>
                  <a:srgbClr val="0000FF"/>
                </a:solidFill>
              </a:rPr>
              <a:t>  </a:t>
            </a:r>
            <a:r>
              <a:rPr lang="en-US" altLang="ko-KR" sz="2000" b="1" i="1">
                <a:solidFill>
                  <a:schemeClr val="bg1"/>
                </a:solidFill>
              </a:rPr>
              <a:t>Lab.</a:t>
            </a:r>
          </a:p>
        </p:txBody>
      </p:sp>
      <p:sp>
        <p:nvSpPr>
          <p:cNvPr id="50196" name="Text Box 20"/>
          <p:cNvSpPr txBox="1">
            <a:spLocks noChangeArrowheads="1"/>
          </p:cNvSpPr>
          <p:nvPr/>
        </p:nvSpPr>
        <p:spPr>
          <a:xfrm rot="16200000">
            <a:off x="-373062" y="5205413"/>
            <a:ext cx="1295400" cy="336550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>
            <a:spAutoFit/>
          </a:bodyPr>
          <a:lstStyle/>
          <a:p>
            <a:pPr algn="ctr"/>
            <a:r>
              <a:rPr lang="en-US" altLang="ko-KR" sz="1600" b="1" i="1">
                <a:solidFill>
                  <a:srgbClr val="000066"/>
                </a:solidFill>
              </a:rPr>
              <a:t>University</a:t>
            </a:r>
            <a:endParaRPr lang="en-US" altLang="ko-KR" sz="1600" b="1" i="1">
              <a:solidFill>
                <a:schemeClr val="bg1"/>
              </a:solidFill>
            </a:endParaRPr>
          </a:p>
        </p:txBody>
      </p:sp>
      <p:pic>
        <p:nvPicPr>
          <p:cNvPr id="1033" name="Picture 21"/>
          <p:cNvPicPr>
            <a:picLocks noChangeAspect="1" noChangeArrowheads="1"/>
          </p:cNvPicPr>
          <p:nvPr/>
        </p:nvPicPr>
        <p:blipFill rotWithShape="1">
          <a:blip r:embed="rId14" cstate="print"/>
          <a:srcRect/>
          <a:stretch>
            <a:fillRect/>
          </a:stretch>
        </p:blipFill>
        <p:spPr>
          <a:xfrm>
            <a:off x="34925" y="5805488"/>
            <a:ext cx="381000" cy="923925"/>
          </a:xfrm>
          <a:prstGeom prst="rect">
            <a:avLst/>
          </a:prstGeom>
          <a:noFill/>
          <a:ln w="28575" algn="ctr">
            <a:noFill/>
            <a:miter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45" r:id="rId12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4000" b="1" i="1">
          <a:solidFill>
            <a:srgbClr val="000066"/>
          </a:solidFill>
          <a:latin typeface="HY헤드라인M"/>
          <a:ea typeface="HY헤드라인M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SzPct val="80000"/>
        <a:buFont typeface="Wingdings"/>
        <a:buChar char="u"/>
        <a:defRPr kumimoji="1" sz="28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SzPct val="110000"/>
        <a:buFont typeface="Wingdings"/>
        <a:buChar char="ü"/>
        <a:defRPr kumimoji="1" sz="24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Font typeface="Wingdings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eureka-server:8761/eureka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BA242A-9D6D-D5F0-49FA-D7F64E0A89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프로젝트</a:t>
            </a:r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59FBF-CA7E-38AB-74F9-500D0F1054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순천향대학교</a:t>
            </a:r>
            <a:endParaRPr lang="en-US" altLang="ko-KR" dirty="0"/>
          </a:p>
          <a:p>
            <a:r>
              <a:rPr lang="ko-KR" altLang="en-US" dirty="0"/>
              <a:t>컴퓨터시스템연구실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유동균</a:t>
            </a:r>
            <a:endParaRPr lang="en-US" altLang="ko-KR" dirty="0"/>
          </a:p>
          <a:p>
            <a:r>
              <a:rPr lang="en-US" altLang="ko-KR" dirty="0"/>
              <a:t>25/04/10</a:t>
            </a:r>
          </a:p>
        </p:txBody>
      </p:sp>
    </p:spTree>
    <p:extLst>
      <p:ext uri="{BB962C8B-B14F-4D97-AF65-F5344CB8AC3E}">
        <p14:creationId xmlns:p14="http://schemas.microsoft.com/office/powerpoint/2010/main" val="51490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086CDC-20D2-563F-2B2A-B6BE5B47B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A0CC9-B749-2242-7365-0E9537911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088" y="1124744"/>
            <a:ext cx="8426648" cy="52720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1. </a:t>
            </a:r>
            <a:r>
              <a:rPr lang="ko-KR" altLang="en-US" dirty="0"/>
              <a:t>프로젝트의 현 상황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Spring Cloud</a:t>
            </a:r>
            <a:r>
              <a:rPr lang="ko-KR" altLang="en-US" dirty="0"/>
              <a:t>의 내부 코드 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3. </a:t>
            </a:r>
            <a:r>
              <a:rPr lang="ko-KR" altLang="en-US" dirty="0"/>
              <a:t>기능 구현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4. </a:t>
            </a:r>
            <a:r>
              <a:rPr lang="ko-KR" altLang="en-US" dirty="0" err="1"/>
              <a:t>쿠버네티스</a:t>
            </a:r>
            <a:r>
              <a:rPr lang="ko-KR" altLang="en-US" dirty="0"/>
              <a:t> 적용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83047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1D391-1B38-61E9-C8B9-D6CB2341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오류 해결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B6286-0571-FF00-BABE-3CA3BA6C4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오류 발생 이유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2400" dirty="0"/>
              <a:t> =&gt; </a:t>
            </a:r>
            <a:r>
              <a:rPr lang="en-US" altLang="ko-KR" sz="2400" dirty="0" err="1"/>
              <a:t>application.yml</a:t>
            </a:r>
            <a:r>
              <a:rPr lang="ko-KR" altLang="en-US" sz="2400" dirty="0"/>
              <a:t> 파일과 추가적인 코드의 </a:t>
            </a:r>
            <a:r>
              <a:rPr lang="ko-KR" altLang="en-US" sz="2400" dirty="0">
                <a:solidFill>
                  <a:srgbClr val="FF0000"/>
                </a:solidFill>
              </a:rPr>
              <a:t>변경</a:t>
            </a:r>
            <a:r>
              <a:rPr lang="ko-KR" altLang="en-US" sz="2400" dirty="0"/>
              <a:t>이 있었고 이를 적용한 </a:t>
            </a:r>
            <a:r>
              <a:rPr lang="en-US" altLang="ko-KR" sz="2400" dirty="0" err="1">
                <a:solidFill>
                  <a:srgbClr val="FF0000"/>
                </a:solidFill>
              </a:rPr>
              <a:t>Dockerfile</a:t>
            </a:r>
            <a:r>
              <a:rPr lang="en-US" altLang="ko-KR" sz="2400" dirty="0">
                <a:solidFill>
                  <a:srgbClr val="FF0000"/>
                </a:solidFill>
              </a:rPr>
              <a:t> </a:t>
            </a:r>
            <a:r>
              <a:rPr lang="ko-KR" altLang="en-US" sz="2400" dirty="0">
                <a:solidFill>
                  <a:srgbClr val="FF0000"/>
                </a:solidFill>
              </a:rPr>
              <a:t>이미지</a:t>
            </a:r>
            <a:r>
              <a:rPr lang="ko-KR" altLang="en-US" sz="2400" dirty="0"/>
              <a:t>를 사용하지 않았음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=&gt; </a:t>
            </a:r>
            <a:r>
              <a:rPr lang="ko-KR" altLang="en-US" sz="2400" dirty="0"/>
              <a:t>이전 </a:t>
            </a:r>
            <a:r>
              <a:rPr lang="en-US" altLang="ko-KR" sz="2400" dirty="0"/>
              <a:t>target</a:t>
            </a:r>
            <a:r>
              <a:rPr lang="ko-KR" altLang="en-US" sz="2400" dirty="0"/>
              <a:t>폴더에 </a:t>
            </a:r>
            <a:r>
              <a:rPr lang="en-US" altLang="ko-KR" sz="2400" dirty="0"/>
              <a:t>localhost:8761/eureka </a:t>
            </a:r>
            <a:r>
              <a:rPr lang="ko-KR" altLang="en-US" sz="2400" dirty="0"/>
              <a:t>의 </a:t>
            </a:r>
            <a:r>
              <a:rPr lang="en-US" altLang="ko-KR" sz="2400" dirty="0"/>
              <a:t>URL</a:t>
            </a:r>
            <a:r>
              <a:rPr lang="ko-KR" altLang="en-US" sz="2400" dirty="0"/>
              <a:t>로 지정이 되어있었음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>
                <a:hlinkClick r:id="rId2"/>
              </a:rPr>
              <a:t>http://eureka-server:8761/eureka/</a:t>
            </a:r>
            <a:r>
              <a:rPr lang="en-US" altLang="ko-KR" sz="2400" dirty="0"/>
              <a:t> </a:t>
            </a:r>
            <a:r>
              <a:rPr lang="ko-KR" altLang="en-US" sz="2400" dirty="0"/>
              <a:t>로 사용해야 함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 descr="텍스트, 스크린샷,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18099C1-80CF-5724-7E5B-B6D0FDC04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4077073"/>
            <a:ext cx="6912768" cy="274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56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5A8CF1-0B57-5CC2-7EAA-E7C73E10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오류 해결 후</a:t>
            </a:r>
          </a:p>
        </p:txBody>
      </p:sp>
      <p:pic>
        <p:nvPicPr>
          <p:cNvPr id="5" name="내용 개체 틀 4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309FAB4-8BD9-0AD6-D92C-E15E6DA746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88"/>
          <a:stretch/>
        </p:blipFill>
        <p:spPr>
          <a:xfrm>
            <a:off x="35496" y="897688"/>
            <a:ext cx="6580724" cy="3467416"/>
          </a:xfr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94609DD-3F3E-09EA-CC9D-69AEC2AD6CC7}"/>
              </a:ext>
            </a:extLst>
          </p:cNvPr>
          <p:cNvCxnSpPr/>
          <p:nvPr/>
        </p:nvCxnSpPr>
        <p:spPr>
          <a:xfrm>
            <a:off x="1043608" y="1052736"/>
            <a:ext cx="1872208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907941-AA5C-2EEA-66BB-3B207DA4AE5C}"/>
              </a:ext>
            </a:extLst>
          </p:cNvPr>
          <p:cNvSpPr txBox="1"/>
          <p:nvPr/>
        </p:nvSpPr>
        <p:spPr>
          <a:xfrm>
            <a:off x="3707904" y="2348880"/>
            <a:ext cx="864096" cy="20162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7" name="그림 6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7C23579-5260-08B6-4CB9-F18844365A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5269" y="980729"/>
            <a:ext cx="4464496" cy="5303894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903885C-3E56-E642-EB73-6BECB79DD07D}"/>
              </a:ext>
            </a:extLst>
          </p:cNvPr>
          <p:cNvCxnSpPr>
            <a:cxnSpLocks/>
          </p:cNvCxnSpPr>
          <p:nvPr/>
        </p:nvCxnSpPr>
        <p:spPr>
          <a:xfrm>
            <a:off x="5936124" y="1916832"/>
            <a:ext cx="115488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375C6F9-C1D9-5960-35B7-0009A833E984}"/>
              </a:ext>
            </a:extLst>
          </p:cNvPr>
          <p:cNvCxnSpPr>
            <a:cxnSpLocks/>
          </p:cNvCxnSpPr>
          <p:nvPr/>
        </p:nvCxnSpPr>
        <p:spPr>
          <a:xfrm>
            <a:off x="5508104" y="4941168"/>
            <a:ext cx="1368152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</p:spTree>
    <p:extLst>
      <p:ext uri="{BB962C8B-B14F-4D97-AF65-F5344CB8AC3E}">
        <p14:creationId xmlns:p14="http://schemas.microsoft.com/office/powerpoint/2010/main" val="1318097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629197-877F-7C2B-ABE2-27741813A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Kubernetes </a:t>
            </a:r>
            <a:r>
              <a:rPr lang="ko-KR" altLang="en-US" dirty="0"/>
              <a:t>의 설치 및 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DDB2DA-85F0-7DCD-B154-8A71704B3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Cri-</a:t>
            </a:r>
            <a:r>
              <a:rPr lang="en-US" altLang="ko-KR" dirty="0" err="1"/>
              <a:t>dockerd</a:t>
            </a:r>
            <a:r>
              <a:rPr lang="en-US" altLang="ko-KR" dirty="0"/>
              <a:t> </a:t>
            </a:r>
            <a:r>
              <a:rPr lang="ko-KR" altLang="en-US" dirty="0"/>
              <a:t>사용을 위해 </a:t>
            </a:r>
            <a:r>
              <a:rPr lang="en-US" altLang="ko-KR" dirty="0" err="1"/>
              <a:t>golang</a:t>
            </a:r>
            <a:r>
              <a:rPr lang="ko-KR" altLang="en-US" dirty="0"/>
              <a:t> 다운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 err="1"/>
              <a:t>kubeadm</a:t>
            </a:r>
            <a:r>
              <a:rPr lang="en-US" altLang="ko-KR" dirty="0"/>
              <a:t>, Helm, Keda </a:t>
            </a:r>
            <a:r>
              <a:rPr lang="ko-KR" altLang="en-US" dirty="0"/>
              <a:t>설치 완료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 err="1"/>
              <a:t>Kubeadm</a:t>
            </a:r>
            <a:r>
              <a:rPr lang="en-US" altLang="ko-KR" dirty="0"/>
              <a:t> </a:t>
            </a:r>
            <a:r>
              <a:rPr lang="ko-KR" altLang="en-US" dirty="0"/>
              <a:t>과 </a:t>
            </a:r>
            <a:r>
              <a:rPr lang="en-US" altLang="ko-KR" dirty="0" err="1"/>
              <a:t>kubelet</a:t>
            </a:r>
            <a:r>
              <a:rPr lang="en-US" altLang="ko-KR" dirty="0"/>
              <a:t> </a:t>
            </a:r>
            <a:r>
              <a:rPr lang="ko-KR" altLang="en-US" dirty="0"/>
              <a:t>등 버전 고정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CA454CC-EB44-C294-739E-91AA74D339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2564904"/>
            <a:ext cx="5501213" cy="9208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F5BA582-809D-EA80-C3EF-3264D2BB0D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29" y="4293096"/>
            <a:ext cx="5491786" cy="96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81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007B3-9664-2AF2-8333-EA8964622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/>
              <a:t>실행 </a:t>
            </a:r>
            <a:r>
              <a:rPr lang="ko-KR" altLang="en-US" sz="3600" dirty="0" err="1"/>
              <a:t>되고있는</a:t>
            </a:r>
            <a:r>
              <a:rPr lang="ko-KR" altLang="en-US" sz="3600" dirty="0"/>
              <a:t> 컨테이너 </a:t>
            </a:r>
            <a:r>
              <a:rPr lang="en-US" altLang="ko-KR" sz="3600" dirty="0"/>
              <a:t>control plane</a:t>
            </a:r>
            <a:endParaRPr lang="ko-KR" altLang="en-US" sz="3600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A5D3021D-F230-E267-04F9-58756634B7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3827"/>
          <a:stretch/>
        </p:blipFill>
        <p:spPr>
          <a:xfrm>
            <a:off x="35496" y="1052736"/>
            <a:ext cx="8898527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101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F46D0B-820A-979A-2D2B-304B34FE1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기능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D1A763-ABD5-CB07-94C9-A5503503D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675" y="1052513"/>
            <a:ext cx="7991475" cy="5544839"/>
          </a:xfrm>
        </p:spPr>
        <p:txBody>
          <a:bodyPr>
            <a:normAutofit/>
          </a:bodyPr>
          <a:lstStyle/>
          <a:p>
            <a:r>
              <a:rPr lang="en-US" altLang="ko-KR" dirty="0"/>
              <a:t> </a:t>
            </a:r>
            <a:r>
              <a:rPr lang="ko-KR" altLang="en-US" dirty="0" err="1"/>
              <a:t>오토스케일링과</a:t>
            </a:r>
            <a:r>
              <a:rPr lang="ko-KR" altLang="en-US" dirty="0"/>
              <a:t> </a:t>
            </a:r>
            <a:r>
              <a:rPr lang="ko-KR" altLang="en-US" dirty="0" err="1"/>
              <a:t>로드밸런싱의</a:t>
            </a:r>
            <a:r>
              <a:rPr lang="ko-KR" altLang="en-US" dirty="0"/>
              <a:t> 테스트를 위한 최소한의 기능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기능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Customer </a:t>
            </a:r>
            <a:r>
              <a:rPr lang="ko-KR" altLang="en-US" dirty="0"/>
              <a:t>등록 기능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Customer </a:t>
            </a:r>
            <a:r>
              <a:rPr lang="ko-KR" altLang="en-US" dirty="0"/>
              <a:t>삭제 기능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Customer</a:t>
            </a:r>
            <a:r>
              <a:rPr lang="ko-KR" altLang="en-US" dirty="0"/>
              <a:t> 이력 </a:t>
            </a:r>
            <a:r>
              <a:rPr lang="en-US" altLang="ko-KR" dirty="0"/>
              <a:t>All </a:t>
            </a:r>
            <a:r>
              <a:rPr lang="ko-KR" altLang="en-US" dirty="0"/>
              <a:t>조회 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Customer </a:t>
            </a:r>
            <a:r>
              <a:rPr lang="ko-KR" altLang="en-US" dirty="0"/>
              <a:t>등록 시 </a:t>
            </a:r>
            <a:r>
              <a:rPr lang="en-US" altLang="ko-KR" dirty="0"/>
              <a:t>RabbitMQ</a:t>
            </a:r>
            <a:r>
              <a:rPr lang="ko-KR" altLang="en-US" dirty="0"/>
              <a:t>를 사용한 등록 메시지 알람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Event RabbitMQ </a:t>
            </a:r>
            <a:r>
              <a:rPr lang="ko-KR" altLang="en-US" dirty="0"/>
              <a:t>단순</a:t>
            </a:r>
            <a:r>
              <a:rPr lang="en-US" altLang="ko-KR" dirty="0"/>
              <a:t> </a:t>
            </a:r>
            <a:r>
              <a:rPr lang="ko-KR" altLang="en-US" dirty="0"/>
              <a:t>메시지 보내기 기능</a:t>
            </a:r>
          </a:p>
        </p:txBody>
      </p:sp>
    </p:spTree>
    <p:extLst>
      <p:ext uri="{BB962C8B-B14F-4D97-AF65-F5344CB8AC3E}">
        <p14:creationId xmlns:p14="http://schemas.microsoft.com/office/powerpoint/2010/main" val="111109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FFF02-70C1-D0FA-0338-2BC622770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158820"/>
            <a:ext cx="8352854" cy="707886"/>
          </a:xfrm>
        </p:spPr>
        <p:txBody>
          <a:bodyPr/>
          <a:lstStyle/>
          <a:p>
            <a:r>
              <a:rPr lang="en-US" altLang="ko-KR" dirty="0"/>
              <a:t>RabbitMQ </a:t>
            </a:r>
            <a:r>
              <a:rPr lang="ko-KR" altLang="en-US" dirty="0"/>
              <a:t>사용하면서 발생했던 오류</a:t>
            </a:r>
          </a:p>
        </p:txBody>
      </p:sp>
      <p:pic>
        <p:nvPicPr>
          <p:cNvPr id="5" name="내용 개체 틀 4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A8E4F33-260A-A744-2BAD-BCB2A0E72D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1" y="1052736"/>
            <a:ext cx="6165980" cy="4392488"/>
          </a:xfr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640BC2F-21E2-DD34-C86D-656C639BD0C7}"/>
              </a:ext>
            </a:extLst>
          </p:cNvPr>
          <p:cNvCxnSpPr>
            <a:cxnSpLocks/>
          </p:cNvCxnSpPr>
          <p:nvPr/>
        </p:nvCxnSpPr>
        <p:spPr>
          <a:xfrm>
            <a:off x="4211960" y="3573016"/>
            <a:ext cx="864096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</p:spTree>
    <p:extLst>
      <p:ext uri="{BB962C8B-B14F-4D97-AF65-F5344CB8AC3E}">
        <p14:creationId xmlns:p14="http://schemas.microsoft.com/office/powerpoint/2010/main" val="2746771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11A19-474D-8B37-07D0-A1CADC80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User-service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DFF27A9B-146B-293B-51C9-0190C80B4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935"/>
          <a:stretch/>
        </p:blipFill>
        <p:spPr>
          <a:xfrm>
            <a:off x="19910" y="832841"/>
            <a:ext cx="2737101" cy="5272087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3FFE56C-3B6A-257C-0A4F-A18B9A11E6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20" b="2563"/>
          <a:stretch/>
        </p:blipFill>
        <p:spPr>
          <a:xfrm>
            <a:off x="2880099" y="832841"/>
            <a:ext cx="6263901" cy="5999126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8815656-6CF2-11CA-08CC-DD0E7ECE21E0}"/>
              </a:ext>
            </a:extLst>
          </p:cNvPr>
          <p:cNvCxnSpPr/>
          <p:nvPr/>
        </p:nvCxnSpPr>
        <p:spPr>
          <a:xfrm>
            <a:off x="3275856" y="980728"/>
            <a:ext cx="93610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</p:spTree>
    <p:extLst>
      <p:ext uri="{BB962C8B-B14F-4D97-AF65-F5344CB8AC3E}">
        <p14:creationId xmlns:p14="http://schemas.microsoft.com/office/powerpoint/2010/main" val="1450635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AB3AD-8165-7450-9C94-847171220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User-service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D847856-4C4F-B2E4-B35C-86350ABDBA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5555"/>
          <a:stretch/>
        </p:blipFill>
        <p:spPr>
          <a:xfrm>
            <a:off x="-123" y="887972"/>
            <a:ext cx="5231890" cy="455725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C756E8F-21F0-4019-3E8A-CE75D0120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3442"/>
          <a:stretch/>
        </p:blipFill>
        <p:spPr>
          <a:xfrm>
            <a:off x="4211960" y="31211"/>
            <a:ext cx="4896544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197150E-F8D6-D71A-6158-AF8DDD9398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52" t="24080" r="9386" b="45822"/>
          <a:stretch/>
        </p:blipFill>
        <p:spPr>
          <a:xfrm>
            <a:off x="-123" y="6021288"/>
            <a:ext cx="4256766" cy="30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049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C74A1-7965-EDC8-DC10-1673DA41D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Event-service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911F9DA-196C-A4DF-49CB-BB7A74B594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04" y="1124744"/>
            <a:ext cx="3711810" cy="4750395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FF9B89D-95F2-887C-521B-886AB1E6B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700" y="2420888"/>
            <a:ext cx="5467300" cy="32403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0E02D7-5236-DE20-BD2B-CD450E64AD3E}"/>
              </a:ext>
            </a:extLst>
          </p:cNvPr>
          <p:cNvSpPr txBox="1"/>
          <p:nvPr/>
        </p:nvSpPr>
        <p:spPr>
          <a:xfrm>
            <a:off x="4142098" y="1555153"/>
            <a:ext cx="45365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  <a:ea typeface="+mn-ea"/>
              </a:rPr>
              <a:t>RabbitMQ</a:t>
            </a:r>
            <a:r>
              <a:rPr lang="ko-KR" altLang="en-US" dirty="0">
                <a:latin typeface="+mn-ea"/>
                <a:ea typeface="+mn-ea"/>
              </a:rPr>
              <a:t>에 사용될 </a:t>
            </a:r>
            <a:r>
              <a:rPr lang="en-US" altLang="ko-KR" dirty="0">
                <a:latin typeface="+mn-ea"/>
                <a:ea typeface="+mn-ea"/>
              </a:rPr>
              <a:t>Queue</a:t>
            </a:r>
            <a:r>
              <a:rPr lang="ko-KR" altLang="en-US" dirty="0">
                <a:latin typeface="+mn-ea"/>
                <a:ea typeface="+mn-ea"/>
              </a:rPr>
              <a:t>를 생성해 보내는 위치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B6BBAE2-B84C-DBBB-E4EB-6019DF17A1D2}"/>
              </a:ext>
            </a:extLst>
          </p:cNvPr>
          <p:cNvCxnSpPr/>
          <p:nvPr/>
        </p:nvCxnSpPr>
        <p:spPr>
          <a:xfrm>
            <a:off x="4860032" y="3573016"/>
            <a:ext cx="93610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5F1ABD41-CFA8-B468-0FBE-CEE14C407966}"/>
              </a:ext>
            </a:extLst>
          </p:cNvPr>
          <p:cNvCxnSpPr/>
          <p:nvPr/>
        </p:nvCxnSpPr>
        <p:spPr>
          <a:xfrm>
            <a:off x="4932040" y="4149080"/>
            <a:ext cx="93610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9DC8FB8-F377-9BF4-093E-EE01E2764EE8}"/>
              </a:ext>
            </a:extLst>
          </p:cNvPr>
          <p:cNvCxnSpPr>
            <a:cxnSpLocks/>
          </p:cNvCxnSpPr>
          <p:nvPr/>
        </p:nvCxnSpPr>
        <p:spPr>
          <a:xfrm>
            <a:off x="1763688" y="3717032"/>
            <a:ext cx="1152128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50F1121-39BE-DB80-44B3-81C3F523134A}"/>
              </a:ext>
            </a:extLst>
          </p:cNvPr>
          <p:cNvCxnSpPr/>
          <p:nvPr/>
        </p:nvCxnSpPr>
        <p:spPr>
          <a:xfrm>
            <a:off x="1763688" y="4005064"/>
            <a:ext cx="93610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93B6AA1-732D-0133-79B5-0BFCC84EA21B}"/>
              </a:ext>
            </a:extLst>
          </p:cNvPr>
          <p:cNvCxnSpPr>
            <a:cxnSpLocks/>
          </p:cNvCxnSpPr>
          <p:nvPr/>
        </p:nvCxnSpPr>
        <p:spPr>
          <a:xfrm>
            <a:off x="1763688" y="4509120"/>
            <a:ext cx="129614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6FF0F16-B6C6-D2B5-860C-4CA7DCDABBA9}"/>
              </a:ext>
            </a:extLst>
          </p:cNvPr>
          <p:cNvCxnSpPr>
            <a:cxnSpLocks/>
          </p:cNvCxnSpPr>
          <p:nvPr/>
        </p:nvCxnSpPr>
        <p:spPr>
          <a:xfrm>
            <a:off x="1763688" y="5013176"/>
            <a:ext cx="165618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74EC109-54FE-A1FD-AEE7-A7F884BF36F3}"/>
              </a:ext>
            </a:extLst>
          </p:cNvPr>
          <p:cNvCxnSpPr>
            <a:cxnSpLocks/>
          </p:cNvCxnSpPr>
          <p:nvPr/>
        </p:nvCxnSpPr>
        <p:spPr>
          <a:xfrm>
            <a:off x="1763688" y="5517232"/>
            <a:ext cx="1656184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</p:spTree>
    <p:extLst>
      <p:ext uri="{BB962C8B-B14F-4D97-AF65-F5344CB8AC3E}">
        <p14:creationId xmlns:p14="http://schemas.microsoft.com/office/powerpoint/2010/main" val="3591429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A1A10-359D-0CBD-CD69-64B7F163F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Event-service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5DCE5E2-DB5A-FC64-E5E5-2A8A636220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686" b="10757"/>
          <a:stretch/>
        </p:blipFill>
        <p:spPr>
          <a:xfrm>
            <a:off x="107504" y="980728"/>
            <a:ext cx="7776864" cy="3642414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8441DB-B7D1-DC33-F2BC-FDBC0F171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4293096"/>
            <a:ext cx="2865711" cy="25084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7B7518-EA04-BC56-755C-99C811C19873}"/>
              </a:ext>
            </a:extLst>
          </p:cNvPr>
          <p:cNvSpPr txBox="1"/>
          <p:nvPr/>
        </p:nvSpPr>
        <p:spPr>
          <a:xfrm>
            <a:off x="539552" y="5131841"/>
            <a:ext cx="4896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  <a:ea typeface="+mn-ea"/>
              </a:rPr>
              <a:t>기능 </a:t>
            </a:r>
            <a:r>
              <a:rPr lang="en-US" altLang="ko-KR" dirty="0">
                <a:latin typeface="+mn-ea"/>
                <a:ea typeface="+mn-ea"/>
              </a:rPr>
              <a:t>5 </a:t>
            </a:r>
            <a:r>
              <a:rPr lang="ko-KR" altLang="en-US" dirty="0">
                <a:latin typeface="+mn-ea"/>
                <a:ea typeface="+mn-ea"/>
              </a:rPr>
              <a:t> 사용될 메시지 큐 객체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6172DF7-694B-B671-821A-54343C8AB7A1}"/>
              </a:ext>
            </a:extLst>
          </p:cNvPr>
          <p:cNvCxnSpPr>
            <a:cxnSpLocks/>
          </p:cNvCxnSpPr>
          <p:nvPr/>
        </p:nvCxnSpPr>
        <p:spPr>
          <a:xfrm>
            <a:off x="539552" y="2132856"/>
            <a:ext cx="288032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</p:spTree>
    <p:extLst>
      <p:ext uri="{BB962C8B-B14F-4D97-AF65-F5344CB8AC3E}">
        <p14:creationId xmlns:p14="http://schemas.microsoft.com/office/powerpoint/2010/main" val="156443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1AFD6C-1E3A-EBAA-2BC1-8811825C5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MongoDB</a:t>
            </a:r>
            <a:r>
              <a:rPr lang="ko-KR" altLang="en-US" dirty="0"/>
              <a:t>에 저장된 내용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360BB5C-D1CE-9953-3425-90DA874A7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7544" y="980728"/>
            <a:ext cx="5904656" cy="5818800"/>
          </a:xfrm>
        </p:spPr>
      </p:pic>
    </p:spTree>
    <p:extLst>
      <p:ext uri="{BB962C8B-B14F-4D97-AF65-F5344CB8AC3E}">
        <p14:creationId xmlns:p14="http://schemas.microsoft.com/office/powerpoint/2010/main" val="3614931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05BD7-B33E-872B-1CA8-1954E374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기능의 테스트 결과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BC5ED6B-E16A-019A-DC31-92522C1864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4473"/>
          <a:stretch/>
        </p:blipFill>
        <p:spPr>
          <a:xfrm>
            <a:off x="34260" y="1662136"/>
            <a:ext cx="9050074" cy="149828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FD597DC-2E70-A9C7-D23B-34741C70CC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806"/>
          <a:stretch/>
        </p:blipFill>
        <p:spPr>
          <a:xfrm>
            <a:off x="-1" y="3745549"/>
            <a:ext cx="9144000" cy="8359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5992862-38EA-D741-DA1F-1C051659F0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-10322" r="35907"/>
          <a:stretch/>
        </p:blipFill>
        <p:spPr>
          <a:xfrm>
            <a:off x="59665" y="5422597"/>
            <a:ext cx="9024669" cy="11851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FDD66FD-68E3-1845-22DF-1BFC8B9733D5}"/>
              </a:ext>
            </a:extLst>
          </p:cNvPr>
          <p:cNvSpPr txBox="1"/>
          <p:nvPr/>
        </p:nvSpPr>
        <p:spPr>
          <a:xfrm>
            <a:off x="611560" y="1021710"/>
            <a:ext cx="4896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  <a:ea typeface="+mn-ea"/>
              </a:rPr>
              <a:t>기능 </a:t>
            </a:r>
            <a:r>
              <a:rPr lang="en-US" altLang="ko-KR" dirty="0">
                <a:latin typeface="+mn-ea"/>
                <a:ea typeface="+mn-ea"/>
              </a:rPr>
              <a:t>1 Customer </a:t>
            </a:r>
            <a:r>
              <a:rPr lang="ko-KR" altLang="en-US" dirty="0">
                <a:latin typeface="+mn-ea"/>
                <a:ea typeface="+mn-ea"/>
              </a:rPr>
              <a:t>등록 기능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4A4B025-BFD0-9932-F502-150DFFDD4BD5}"/>
              </a:ext>
            </a:extLst>
          </p:cNvPr>
          <p:cNvCxnSpPr>
            <a:cxnSpLocks/>
          </p:cNvCxnSpPr>
          <p:nvPr/>
        </p:nvCxnSpPr>
        <p:spPr>
          <a:xfrm>
            <a:off x="3983233" y="4545937"/>
            <a:ext cx="1152128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1A690A-9021-E54C-E0EB-9CEDF40C3826}"/>
              </a:ext>
            </a:extLst>
          </p:cNvPr>
          <p:cNvSpPr txBox="1"/>
          <p:nvPr/>
        </p:nvSpPr>
        <p:spPr>
          <a:xfrm>
            <a:off x="59664" y="1672959"/>
            <a:ext cx="7608679" cy="14874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7EA5F9-3CF6-5D00-6532-12BB2F74380E}"/>
              </a:ext>
            </a:extLst>
          </p:cNvPr>
          <p:cNvSpPr txBox="1"/>
          <p:nvPr/>
        </p:nvSpPr>
        <p:spPr>
          <a:xfrm>
            <a:off x="246326" y="5973299"/>
            <a:ext cx="9024669" cy="576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4B56FC-BD8F-90E4-C8C3-688AE846E682}"/>
              </a:ext>
            </a:extLst>
          </p:cNvPr>
          <p:cNvSpPr txBox="1"/>
          <p:nvPr/>
        </p:nvSpPr>
        <p:spPr>
          <a:xfrm>
            <a:off x="272355" y="3198167"/>
            <a:ext cx="4896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  <a:ea typeface="+mn-ea"/>
              </a:rPr>
              <a:t>기능 </a:t>
            </a:r>
            <a:r>
              <a:rPr lang="en-US" altLang="ko-KR" dirty="0">
                <a:latin typeface="+mn-ea"/>
                <a:ea typeface="+mn-ea"/>
              </a:rPr>
              <a:t>2 Customer </a:t>
            </a:r>
            <a:r>
              <a:rPr lang="ko-KR" altLang="en-US" dirty="0">
                <a:latin typeface="+mn-ea"/>
                <a:ea typeface="+mn-ea"/>
              </a:rPr>
              <a:t>조회 기능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F8DC43-7A81-3F80-5504-7D1ED95FBDBA}"/>
              </a:ext>
            </a:extLst>
          </p:cNvPr>
          <p:cNvSpPr txBox="1"/>
          <p:nvPr/>
        </p:nvSpPr>
        <p:spPr>
          <a:xfrm>
            <a:off x="395536" y="4765572"/>
            <a:ext cx="4896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  <a:ea typeface="+mn-ea"/>
              </a:rPr>
              <a:t>기능 </a:t>
            </a:r>
            <a:r>
              <a:rPr lang="en-US" altLang="ko-KR" dirty="0">
                <a:latin typeface="+mn-ea"/>
                <a:ea typeface="+mn-ea"/>
              </a:rPr>
              <a:t>3 Customer </a:t>
            </a:r>
            <a:r>
              <a:rPr lang="ko-KR" altLang="en-US" dirty="0">
                <a:latin typeface="+mn-ea"/>
                <a:ea typeface="+mn-ea"/>
              </a:rPr>
              <a:t>삭제 기능</a:t>
            </a:r>
          </a:p>
        </p:txBody>
      </p:sp>
    </p:spTree>
    <p:extLst>
      <p:ext uri="{BB962C8B-B14F-4D97-AF65-F5344CB8AC3E}">
        <p14:creationId xmlns:p14="http://schemas.microsoft.com/office/powerpoint/2010/main" val="2717834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FD50A1-BAB0-EFD9-BBF1-74CB7A90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기능의 테스트 결과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0AF4546-5591-9569-EB31-D8430D579F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968" y="1673938"/>
            <a:ext cx="7991475" cy="805451"/>
          </a:xfrm>
        </p:spPr>
      </p:pic>
      <p:pic>
        <p:nvPicPr>
          <p:cNvPr id="7" name="그림 6" descr="텍스트, 폰트, 스크린샷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587CF06-77B7-68BC-1BE2-8F7DB1ECD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121" y="4731581"/>
            <a:ext cx="3072106" cy="452481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9D68F85-A861-D135-9B7C-2BB251B32A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968" y="3429000"/>
            <a:ext cx="7644542" cy="9684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1D5CD1-A428-FEE6-8B04-E9290A6FC69C}"/>
              </a:ext>
            </a:extLst>
          </p:cNvPr>
          <p:cNvSpPr txBox="1"/>
          <p:nvPr/>
        </p:nvSpPr>
        <p:spPr>
          <a:xfrm>
            <a:off x="359916" y="1055354"/>
            <a:ext cx="8928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  <a:ea typeface="+mn-ea"/>
              </a:rPr>
              <a:t>기능 </a:t>
            </a:r>
            <a:r>
              <a:rPr lang="en-US" altLang="ko-KR" dirty="0">
                <a:latin typeface="+mn-ea"/>
                <a:ea typeface="+mn-ea"/>
              </a:rPr>
              <a:t>4 Customer </a:t>
            </a:r>
            <a:r>
              <a:rPr lang="ko-KR" altLang="en-US" dirty="0">
                <a:latin typeface="+mn-ea"/>
                <a:ea typeface="+mn-ea"/>
              </a:rPr>
              <a:t>등록 시 발생하는 메시지 전송 </a:t>
            </a:r>
            <a:r>
              <a:rPr lang="en-US" altLang="ko-KR" dirty="0">
                <a:latin typeface="+mn-ea"/>
                <a:ea typeface="+mn-ea"/>
              </a:rPr>
              <a:t>RabbitMQ </a:t>
            </a:r>
            <a:r>
              <a:rPr lang="ko-KR" altLang="en-US" dirty="0">
                <a:latin typeface="+mn-ea"/>
                <a:ea typeface="+mn-ea"/>
              </a:rPr>
              <a:t>기능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7A40BE-8586-3FDA-3253-889AA79ACD72}"/>
              </a:ext>
            </a:extLst>
          </p:cNvPr>
          <p:cNvSpPr txBox="1"/>
          <p:nvPr/>
        </p:nvSpPr>
        <p:spPr>
          <a:xfrm>
            <a:off x="359916" y="2798482"/>
            <a:ext cx="9289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  <a:ea typeface="+mn-ea"/>
              </a:rPr>
              <a:t>기능 </a:t>
            </a:r>
            <a:r>
              <a:rPr lang="en-US" altLang="ko-KR" dirty="0">
                <a:latin typeface="+mn-ea"/>
                <a:ea typeface="+mn-ea"/>
              </a:rPr>
              <a:t>5 </a:t>
            </a:r>
            <a:r>
              <a:rPr lang="ko-KR" altLang="en-US" dirty="0">
                <a:latin typeface="+mn-ea"/>
                <a:ea typeface="+mn-ea"/>
              </a:rPr>
              <a:t>간단한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메시지 전송 </a:t>
            </a:r>
            <a:r>
              <a:rPr lang="en-US" altLang="ko-KR" dirty="0">
                <a:latin typeface="+mn-ea"/>
                <a:ea typeface="+mn-ea"/>
              </a:rPr>
              <a:t>RabbitMQ </a:t>
            </a:r>
            <a:r>
              <a:rPr lang="ko-KR" altLang="en-US" dirty="0">
                <a:latin typeface="+mn-ea"/>
                <a:ea typeface="+mn-ea"/>
              </a:rPr>
              <a:t>기능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5B89D3-05A0-2278-0FA4-E904A88A2FF5}"/>
              </a:ext>
            </a:extLst>
          </p:cNvPr>
          <p:cNvSpPr txBox="1"/>
          <p:nvPr/>
        </p:nvSpPr>
        <p:spPr>
          <a:xfrm>
            <a:off x="624279" y="4155517"/>
            <a:ext cx="3587682" cy="241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79AB1-9B1B-1468-E789-ECF4276594A5}"/>
              </a:ext>
            </a:extLst>
          </p:cNvPr>
          <p:cNvSpPr txBox="1"/>
          <p:nvPr/>
        </p:nvSpPr>
        <p:spPr>
          <a:xfrm>
            <a:off x="1935386" y="3868096"/>
            <a:ext cx="1700510" cy="241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94095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D1F30D-5546-6585-F707-8A837D9B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K8S </a:t>
            </a:r>
            <a:r>
              <a:rPr lang="ko-KR" altLang="en-US" dirty="0"/>
              <a:t>의 구성내용</a:t>
            </a:r>
          </a:p>
        </p:txBody>
      </p:sp>
      <p:pic>
        <p:nvPicPr>
          <p:cNvPr id="5" name="내용 개체 틀 4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A15E47E-0A3C-1FA5-2587-E23272C40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67"/>
          <a:stretch/>
        </p:blipFill>
        <p:spPr>
          <a:xfrm>
            <a:off x="5708453" y="404664"/>
            <a:ext cx="3168279" cy="403244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610868-A36B-29F4-578C-E99E045AD87D}"/>
              </a:ext>
            </a:extLst>
          </p:cNvPr>
          <p:cNvSpPr txBox="1"/>
          <p:nvPr/>
        </p:nvSpPr>
        <p:spPr>
          <a:xfrm>
            <a:off x="539552" y="1157353"/>
            <a:ext cx="59766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latin typeface="+mn-ea"/>
                <a:ea typeface="+mn-ea"/>
              </a:rPr>
              <a:t>Deployment.yaml</a:t>
            </a:r>
            <a:r>
              <a:rPr lang="en-US" altLang="ko-KR" dirty="0">
                <a:latin typeface="+mn-ea"/>
                <a:ea typeface="+mn-ea"/>
              </a:rPr>
              <a:t>,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dirty="0" err="1">
                <a:latin typeface="+mn-ea"/>
                <a:ea typeface="+mn-ea"/>
              </a:rPr>
              <a:t>service.yaml</a:t>
            </a:r>
            <a:endParaRPr lang="en-US" altLang="ko-KR" dirty="0">
              <a:latin typeface="+mn-ea"/>
              <a:ea typeface="+mn-ea"/>
            </a:endParaRPr>
          </a:p>
          <a:p>
            <a:r>
              <a:rPr lang="en-US" altLang="ko-KR" dirty="0" err="1">
                <a:latin typeface="+mn-ea"/>
                <a:ea typeface="+mn-ea"/>
              </a:rPr>
              <a:t>pv.yaml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en-US" altLang="ko-KR" dirty="0" err="1">
                <a:latin typeface="+mn-ea"/>
                <a:ea typeface="+mn-ea"/>
              </a:rPr>
              <a:t>pvc.yaml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로 구성되어 있음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앞으로 </a:t>
            </a:r>
            <a:r>
              <a:rPr lang="ko-KR" altLang="en-US" dirty="0" err="1">
                <a:latin typeface="+mn-ea"/>
                <a:ea typeface="+mn-ea"/>
              </a:rPr>
              <a:t>해야할</a:t>
            </a:r>
            <a:r>
              <a:rPr lang="ko-KR" altLang="en-US" dirty="0">
                <a:latin typeface="+mn-ea"/>
                <a:ea typeface="+mn-ea"/>
              </a:rPr>
              <a:t> 일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추가적으로 </a:t>
            </a:r>
            <a:r>
              <a:rPr lang="en-US" altLang="ko-KR" dirty="0">
                <a:solidFill>
                  <a:srgbClr val="FF0000"/>
                </a:solidFill>
                <a:latin typeface="+mn-ea"/>
                <a:ea typeface="+mn-ea"/>
              </a:rPr>
              <a:t>Eureka-server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en-US" altLang="ko-KR" dirty="0">
                <a:solidFill>
                  <a:srgbClr val="FF0000"/>
                </a:solidFill>
                <a:latin typeface="+mn-ea"/>
                <a:ea typeface="+mn-ea"/>
              </a:rPr>
              <a:t>Edge-server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en-US" altLang="ko-KR" dirty="0">
                <a:solidFill>
                  <a:srgbClr val="FF0000"/>
                </a:solidFill>
                <a:latin typeface="+mn-ea"/>
                <a:ea typeface="+mn-ea"/>
              </a:rPr>
              <a:t>Config-server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들의 </a:t>
            </a:r>
            <a:r>
              <a:rPr lang="en-US" altLang="ko-KR" dirty="0">
                <a:latin typeface="+mn-ea"/>
                <a:ea typeface="+mn-ea"/>
              </a:rPr>
              <a:t>Deployment </a:t>
            </a:r>
            <a:r>
              <a:rPr lang="ko-KR" altLang="en-US" dirty="0">
                <a:latin typeface="+mn-ea"/>
                <a:ea typeface="+mn-ea"/>
              </a:rPr>
              <a:t>배치도 해야함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en-US" altLang="ko-KR" dirty="0">
                <a:latin typeface="+mn-ea"/>
                <a:ea typeface="+mn-ea"/>
              </a:rPr>
              <a:t>HPA </a:t>
            </a:r>
            <a:r>
              <a:rPr lang="ko-KR" altLang="en-US" dirty="0">
                <a:latin typeface="+mn-ea"/>
                <a:ea typeface="+mn-ea"/>
              </a:rPr>
              <a:t>설정 및 </a:t>
            </a:r>
            <a:r>
              <a:rPr lang="en-US" altLang="ko-KR" dirty="0">
                <a:latin typeface="+mn-ea"/>
                <a:ea typeface="+mn-ea"/>
              </a:rPr>
              <a:t>KEDA</a:t>
            </a:r>
            <a:r>
              <a:rPr lang="ko-KR" altLang="en-US" dirty="0">
                <a:latin typeface="+mn-ea"/>
                <a:ea typeface="+mn-ea"/>
              </a:rPr>
              <a:t>의 설정 그리고 테스트</a:t>
            </a: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9DB8C5-E9CD-F88C-5A90-965239FFE5D0}"/>
              </a:ext>
            </a:extLst>
          </p:cNvPr>
          <p:cNvSpPr txBox="1"/>
          <p:nvPr/>
        </p:nvSpPr>
        <p:spPr>
          <a:xfrm>
            <a:off x="6125219" y="1340768"/>
            <a:ext cx="2479230" cy="12241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90C9D5-1A44-1E29-644C-20BF10E2D034}"/>
              </a:ext>
            </a:extLst>
          </p:cNvPr>
          <p:cNvSpPr txBox="1"/>
          <p:nvPr/>
        </p:nvSpPr>
        <p:spPr>
          <a:xfrm>
            <a:off x="6156176" y="2636912"/>
            <a:ext cx="2592288" cy="11521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64D46-B007-C4EC-02E0-96089FA6B4D9}"/>
              </a:ext>
            </a:extLst>
          </p:cNvPr>
          <p:cNvSpPr txBox="1"/>
          <p:nvPr/>
        </p:nvSpPr>
        <p:spPr>
          <a:xfrm>
            <a:off x="6157113" y="3759046"/>
            <a:ext cx="2591351" cy="6780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49694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3CF87-65DA-B8E7-A190-8E07B96B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9C7453D-2DB9-570F-C3B0-6DB2E30D6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493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9BC156B-0E81-1D27-F0EC-7911B9D2A4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08"/>
          <a:stretch/>
        </p:blipFill>
        <p:spPr>
          <a:xfrm>
            <a:off x="4283968" y="790390"/>
            <a:ext cx="4860032" cy="607849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8166A3E-528B-47EE-8599-BB9953C07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논문의 진행 상황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8D1C48-1836-8476-5823-121B83126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839" y="908720"/>
            <a:ext cx="8096649" cy="424847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논문 제목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sz="2000" b="1" kern="100" dirty="0"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제목</a:t>
            </a:r>
            <a:r>
              <a:rPr lang="en-US" altLang="ko-KR" sz="2000" b="1" kern="100" dirty="0"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: </a:t>
            </a:r>
            <a:r>
              <a:rPr lang="ko-KR" altLang="ko-KR" sz="2000" b="1" kern="100" dirty="0" err="1">
                <a:effectLst/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쿠버네티스</a:t>
            </a:r>
            <a:r>
              <a:rPr lang="ko-KR" altLang="ko-KR" sz="2000" b="1" kern="100" dirty="0">
                <a:effectLst/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 기반 스프링</a:t>
            </a:r>
            <a:endParaRPr lang="en-US" altLang="ko-KR" sz="2000" b="1" kern="100" dirty="0">
              <a:effectLst/>
              <a:latin typeface="맑은 고딕" panose="020B0503020000020004" pitchFamily="50" charset="-127"/>
              <a:ea typeface="신명조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ko-KR" altLang="ko-KR" sz="2000" b="1" kern="100" dirty="0">
                <a:effectLst/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클라우드 </a:t>
            </a:r>
            <a:r>
              <a:rPr lang="ko-KR" altLang="ko-KR" sz="2000" b="1" kern="100" dirty="0" err="1">
                <a:effectLst/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마이크로서비스</a:t>
            </a:r>
            <a:r>
              <a:rPr lang="ko-KR" altLang="ko-KR" sz="2000" b="1" kern="100" dirty="0">
                <a:effectLst/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 </a:t>
            </a:r>
            <a:endParaRPr lang="en-US" altLang="ko-KR" sz="2000" b="1" kern="100" dirty="0">
              <a:effectLst/>
              <a:latin typeface="맑은 고딕" panose="020B0503020000020004" pitchFamily="50" charset="-127"/>
              <a:ea typeface="신명조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ko-KR" altLang="ko-KR" sz="2000" b="1" kern="100" dirty="0">
                <a:effectLst/>
                <a:latin typeface="맑은 고딕" panose="020B0503020000020004" pitchFamily="50" charset="-127"/>
                <a:ea typeface="신명조"/>
                <a:cs typeface="Times New Roman" panose="02020603050405020304" pitchFamily="18" charset="0"/>
              </a:rPr>
              <a:t>아키텍처의 설계 및 구현</a:t>
            </a:r>
            <a:endParaRPr lang="ko-KR" altLang="ko-KR" sz="20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414584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148528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실사대비 보고자료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3399FF"/>
      </a:hlink>
      <a:folHlink>
        <a:srgbClr val="B2B2B2"/>
      </a:folHlink>
    </a:clrScheme>
    <a:fontScheme name="실사대비 보고자료">
      <a:majorFont>
        <a:latin typeface="HY헤드라인M"/>
        <a:ea typeface="HY헤드라인M"/>
        <a:cs typeface=""/>
      </a:majorFont>
      <a:minorFont>
        <a:latin typeface="HY헤드라인M"/>
        <a:ea typeface="HY헤드라인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None/>
          <a:defRPr kumimoji="1" sz="2400" b="0" i="0" u="none" strike="noStrike" cap="none" normalizeH="0" baseline="0" smtClean="0">
            <a:ln>
              <a:noFill/>
            </a:ln>
            <a:solidFill>
              <a:schemeClr val="tx1"/>
            </a:solidFill>
            <a:latin typeface="Times New Roman"/>
            <a:ea typeface="굴림"/>
          </a:defRPr>
        </a:defPPr>
      </a:lstStyle>
    </a:spDef>
    <a:lnDef>
      <a:spPr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None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latin typeface="Times New Roman"/>
            <a:ea typeface="굴림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실사대비 보고자료 1">
    <a:dk1>
      <a:srgbClr val="000000"/>
    </a:dk1>
    <a:lt1>
      <a:srgbClr val="FFFFFF"/>
    </a:lt1>
    <a:dk2>
      <a:srgbClr val="000000"/>
    </a:dk2>
    <a:lt2>
      <a:srgbClr val="808080"/>
    </a:lt2>
    <a:accent1>
      <a:srgbClr val="00CC99"/>
    </a:accent1>
    <a:accent2>
      <a:srgbClr val="3333CC"/>
    </a:accent2>
    <a:accent3>
      <a:srgbClr val="FFFFFF"/>
    </a:accent3>
    <a:accent4>
      <a:srgbClr val="000000"/>
    </a:accent4>
    <a:accent5>
      <a:srgbClr val="AAE2CA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21400</TotalTime>
  <Words>279</Words>
  <Application>Microsoft Office PowerPoint</Application>
  <PresentationFormat>화면 슬라이드 쇼(4:3)</PresentationFormat>
  <Paragraphs>80</Paragraphs>
  <Slides>19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HY헤드라인M</vt:lpstr>
      <vt:lpstr>굴림</vt:lpstr>
      <vt:lpstr>맑은 고딕</vt:lpstr>
      <vt:lpstr>Arial</vt:lpstr>
      <vt:lpstr>Times New Roman</vt:lpstr>
      <vt:lpstr>Wingdings</vt:lpstr>
      <vt:lpstr>Default Theme</vt:lpstr>
      <vt:lpstr>논문 프로젝트7</vt:lpstr>
      <vt:lpstr>목차</vt:lpstr>
      <vt:lpstr>1. 오류 해결</vt:lpstr>
      <vt:lpstr>2. 오류 해결 후</vt:lpstr>
      <vt:lpstr>Kubernetes 의 설치 및 사용</vt:lpstr>
      <vt:lpstr>실행 되고있는 컨테이너 control plane</vt:lpstr>
      <vt:lpstr>기능 구현</vt:lpstr>
      <vt:lpstr>RabbitMQ 사용하면서 발생했던 오류</vt:lpstr>
      <vt:lpstr>User-service</vt:lpstr>
      <vt:lpstr>User-service</vt:lpstr>
      <vt:lpstr>Event-service</vt:lpstr>
      <vt:lpstr>Event-service</vt:lpstr>
      <vt:lpstr>MongoDB에 저장된 내용</vt:lpstr>
      <vt:lpstr>각 기능의 테스트 결과</vt:lpstr>
      <vt:lpstr>각 기능의 테스트 결과</vt:lpstr>
      <vt:lpstr>K8S 의 구성내용</vt:lpstr>
      <vt:lpstr>PowerPoint 프레젠테이션</vt:lpstr>
      <vt:lpstr>논문의 진행 상황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1234</dc:title>
  <dc:creator>Nineking</dc:creator>
  <cp:lastModifiedBy>유동균</cp:lastModifiedBy>
  <cp:revision>700</cp:revision>
  <cp:lastPrinted>2016-11-01T07:29:09Z</cp:lastPrinted>
  <dcterms:created xsi:type="dcterms:W3CDTF">2013-09-09T21:16:08Z</dcterms:created>
  <dcterms:modified xsi:type="dcterms:W3CDTF">2025-05-13T10:02:04Z</dcterms:modified>
</cp:coreProperties>
</file>