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0" r:id="rId1"/>
  </p:sldMasterIdLst>
  <p:notesMasterIdLst>
    <p:notesMasterId r:id="rId20"/>
  </p:notesMasterIdLst>
  <p:sldIdLst>
    <p:sldId id="258" r:id="rId2"/>
    <p:sldId id="259" r:id="rId3"/>
    <p:sldId id="262" r:id="rId4"/>
    <p:sldId id="263" r:id="rId5"/>
    <p:sldId id="261" r:id="rId6"/>
    <p:sldId id="264" r:id="rId7"/>
    <p:sldId id="265" r:id="rId8"/>
    <p:sldId id="268" r:id="rId9"/>
    <p:sldId id="269" r:id="rId10"/>
    <p:sldId id="275" r:id="rId11"/>
    <p:sldId id="271" r:id="rId12"/>
    <p:sldId id="272" r:id="rId13"/>
    <p:sldId id="270" r:id="rId14"/>
    <p:sldId id="273" r:id="rId15"/>
    <p:sldId id="274" r:id="rId16"/>
    <p:sldId id="266" r:id="rId17"/>
    <p:sldId id="267" r:id="rId18"/>
    <p:sldId id="260" r:id="rId19"/>
  </p:sldIdLst>
  <p:sldSz cx="9144000" cy="6858000" type="screen4x3"/>
  <p:notesSz cx="6797675" cy="9874250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/>
        <a:ea typeface="굴림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/>
        <a:ea typeface="굴림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/>
        <a:ea typeface="굴림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/>
        <a:ea typeface="굴림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/>
        <a:ea typeface="굴림"/>
        <a:cs typeface="+mn-cs"/>
      </a:defRPr>
    </a:lvl5pPr>
    <a:lvl6pPr marL="2286000" algn="l" defTabSz="914400" rtl="0" eaLnBrk="1" latinLnBrk="1" hangingPunct="1">
      <a:defRPr kumimoji="1" sz="2400" kern="1200">
        <a:solidFill>
          <a:schemeClr val="tx1"/>
        </a:solidFill>
        <a:latin typeface="Times New Roman"/>
        <a:ea typeface="굴림"/>
        <a:cs typeface="+mn-cs"/>
      </a:defRPr>
    </a:lvl6pPr>
    <a:lvl7pPr marL="2743200" algn="l" defTabSz="914400" rtl="0" eaLnBrk="1" latinLnBrk="1" hangingPunct="1">
      <a:defRPr kumimoji="1" sz="2400" kern="1200">
        <a:solidFill>
          <a:schemeClr val="tx1"/>
        </a:solidFill>
        <a:latin typeface="Times New Roman"/>
        <a:ea typeface="굴림"/>
        <a:cs typeface="+mn-cs"/>
      </a:defRPr>
    </a:lvl7pPr>
    <a:lvl8pPr marL="3200400" algn="l" defTabSz="914400" rtl="0" eaLnBrk="1" latinLnBrk="1" hangingPunct="1">
      <a:defRPr kumimoji="1" sz="2400" kern="1200">
        <a:solidFill>
          <a:schemeClr val="tx1"/>
        </a:solidFill>
        <a:latin typeface="Times New Roman"/>
        <a:ea typeface="굴림"/>
        <a:cs typeface="+mn-cs"/>
      </a:defRPr>
    </a:lvl8pPr>
    <a:lvl9pPr marL="3657600" algn="l" defTabSz="914400" rtl="0" eaLnBrk="1" latinLnBrk="1" hangingPunct="1">
      <a:defRPr kumimoji="1" sz="2400" kern="1200">
        <a:solidFill>
          <a:schemeClr val="tx1"/>
        </a:solidFill>
        <a:latin typeface="Times New Roman"/>
        <a:ea typeface="굴림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10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배찬민" initials="배" lastIdx="0" clrIdx="0"/>
  <p:cmAuthor id="2" name="한설 고" initials="한고" lastIdx="2" clrIdx="1">
    <p:extLst>
      <p:ext uri="{19B8F6BF-5375-455C-9EA6-DF929625EA0E}">
        <p15:presenceInfo xmlns:p15="http://schemas.microsoft.com/office/powerpoint/2012/main" userId="2892c982dbaa564d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CC0000"/>
    <a:srgbClr val="B9B9B9"/>
    <a:srgbClr val="00CC99"/>
    <a:srgbClr val="FFFF00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54" autoAdjust="0"/>
    <p:restoredTop sz="83657" autoAdjust="0"/>
  </p:normalViewPr>
  <p:slideViewPr>
    <p:cSldViewPr>
      <p:cViewPr varScale="1">
        <p:scale>
          <a:sx n="108" d="100"/>
          <a:sy n="108" d="100"/>
        </p:scale>
        <p:origin x="2159" y="75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1452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4" d="100"/>
          <a:sy n="64" d="100"/>
        </p:scale>
        <p:origin x="-3432" y="-102"/>
      </p:cViewPr>
      <p:guideLst>
        <p:guide orient="horz" pos="3110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5350" cy="493247"/>
          </a:xfrm>
          <a:prstGeom prst="rect">
            <a:avLst/>
          </a:prstGeom>
        </p:spPr>
        <p:txBody>
          <a:bodyPr vert="horz" lIns="89264" tIns="44632" rIns="89264" bIns="44632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778" y="1"/>
            <a:ext cx="2945350" cy="493247"/>
          </a:xfrm>
          <a:prstGeom prst="rect">
            <a:avLst/>
          </a:prstGeom>
        </p:spPr>
        <p:txBody>
          <a:bodyPr vert="horz" lIns="89264" tIns="44632" rIns="89264" bIns="44632" rtlCol="0"/>
          <a:lstStyle>
            <a:lvl1pPr algn="r">
              <a:defRPr sz="1200"/>
            </a:lvl1pPr>
          </a:lstStyle>
          <a:p>
            <a:fld id="{57764B8E-7EC0-4B59-8DA5-E04CAE3DB5F2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30275" y="739775"/>
            <a:ext cx="4937125" cy="37036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9264" tIns="44632" rIns="89264" bIns="44632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9" y="4690502"/>
            <a:ext cx="5438759" cy="4443878"/>
          </a:xfrm>
          <a:prstGeom prst="rect">
            <a:avLst/>
          </a:prstGeom>
        </p:spPr>
        <p:txBody>
          <a:bodyPr vert="horz" lIns="89264" tIns="44632" rIns="89264" bIns="44632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379453"/>
            <a:ext cx="2945350" cy="493247"/>
          </a:xfrm>
          <a:prstGeom prst="rect">
            <a:avLst/>
          </a:prstGeom>
        </p:spPr>
        <p:txBody>
          <a:bodyPr vert="horz" lIns="89264" tIns="44632" rIns="89264" bIns="44632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778" y="9379453"/>
            <a:ext cx="2945350" cy="493247"/>
          </a:xfrm>
          <a:prstGeom prst="rect">
            <a:avLst/>
          </a:prstGeom>
        </p:spPr>
        <p:txBody>
          <a:bodyPr vert="horz" lIns="89264" tIns="44632" rIns="89264" bIns="44632" rtlCol="0" anchor="b"/>
          <a:lstStyle>
            <a:lvl1pPr algn="r">
              <a:defRPr sz="1200"/>
            </a:lvl1pPr>
          </a:lstStyle>
          <a:p>
            <a:fld id="{420F09F9-D812-4758-8566-A65BCCCBDD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5806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0F09F9-D812-4758-8566-A65BCCCBDD8F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6486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0F09F9-D812-4758-8566-A65BCCCBDD8F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10354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0F09F9-D812-4758-8566-A65BCCCBDD8F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26301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0F09F9-D812-4758-8566-A65BCCCBDD8F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11834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0F09F9-D812-4758-8566-A65BCCCBDD8F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06567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0F09F9-D812-4758-8566-A65BCCCBDD8F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07870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0F09F9-D812-4758-8566-A65BCCCBDD8F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99585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>
            <a:spLocks noChangeArrowheads="1"/>
          </p:cNvSpPr>
          <p:nvPr/>
        </p:nvSpPr>
        <p:spPr bwMode="auto">
          <a:xfrm rot="5400000">
            <a:off x="-2432843" y="2432843"/>
            <a:ext cx="5334000" cy="468313"/>
          </a:xfrm>
          <a:prstGeom prst="rect">
            <a:avLst/>
          </a:prstGeom>
          <a:gradFill rotWithShape="0">
            <a:gsLst>
              <a:gs pos="0">
                <a:srgbClr val="000066"/>
              </a:gs>
              <a:gs pos="100000">
                <a:schemeClr val="bg1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5" name="Text Box 14"/>
          <p:cNvSpPr txBox="1">
            <a:spLocks noChangeArrowheads="1"/>
          </p:cNvSpPr>
          <p:nvPr/>
        </p:nvSpPr>
        <p:spPr bwMode="auto">
          <a:xfrm rot="16200000">
            <a:off x="-1194593" y="1250156"/>
            <a:ext cx="280828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ko-KR" sz="2000" b="1" i="1">
                <a:solidFill>
                  <a:srgbClr val="000066"/>
                </a:solidFill>
              </a:rPr>
              <a:t>Computer System</a:t>
            </a:r>
            <a:r>
              <a:rPr lang="en-US" altLang="ko-KR" sz="2000" b="1" i="1">
                <a:solidFill>
                  <a:srgbClr val="0000FF"/>
                </a:solidFill>
              </a:rPr>
              <a:t>  </a:t>
            </a:r>
            <a:r>
              <a:rPr lang="en-US" altLang="ko-KR" sz="2000" b="1" i="1">
                <a:solidFill>
                  <a:schemeClr val="bg1"/>
                </a:solidFill>
              </a:rPr>
              <a:t>Lab.</a:t>
            </a:r>
          </a:p>
        </p:txBody>
      </p:sp>
      <p:sp>
        <p:nvSpPr>
          <p:cNvPr id="6" name="Text Box 15"/>
          <p:cNvSpPr txBox="1">
            <a:spLocks noChangeArrowheads="1"/>
          </p:cNvSpPr>
          <p:nvPr/>
        </p:nvSpPr>
        <p:spPr bwMode="auto">
          <a:xfrm rot="16200000">
            <a:off x="-373062" y="5205413"/>
            <a:ext cx="12954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ko-KR" sz="1600" b="1" i="1">
                <a:solidFill>
                  <a:srgbClr val="000066"/>
                </a:solidFill>
              </a:rPr>
              <a:t>University</a:t>
            </a:r>
            <a:endParaRPr lang="en-US" altLang="ko-KR" sz="1600" b="1" i="1">
              <a:solidFill>
                <a:schemeClr val="bg1"/>
              </a:solidFill>
            </a:endParaRPr>
          </a:p>
        </p:txBody>
      </p:sp>
      <p:pic>
        <p:nvPicPr>
          <p:cNvPr id="7" name="Picture 1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4925" y="5805488"/>
            <a:ext cx="381000" cy="92392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sp>
        <p:nvSpPr>
          <p:cNvPr id="51202" name="Rectangle 2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685800" y="1752600"/>
            <a:ext cx="7772400" cy="1981200"/>
          </a:xfrm>
        </p:spPr>
        <p:txBody>
          <a:bodyPr anchor="ctr" anchorCtr="1">
            <a:normAutofit/>
          </a:bodyPr>
          <a:lstStyle>
            <a:lvl1pPr algn="ctr">
              <a:defRPr/>
            </a:lvl1pPr>
          </a:lstStyle>
          <a:p>
            <a:r>
              <a:rPr lang="ko-KR" altLang="en-US" dirty="0"/>
              <a:t>세미나 제목</a:t>
            </a:r>
            <a:endParaRPr lang="en-US" altLang="ko-KR" dirty="0"/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1371600" y="3886200"/>
            <a:ext cx="6400800" cy="28194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ko-KR" altLang="en-US" dirty="0"/>
              <a:t>순천향대학교</a:t>
            </a:r>
            <a:endParaRPr lang="en-US" altLang="ko-KR" dirty="0"/>
          </a:p>
          <a:p>
            <a:r>
              <a:rPr lang="ko-KR" altLang="en-US" dirty="0"/>
              <a:t>컴퓨터시스템연구실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 err="1"/>
              <a:t>유동균</a:t>
            </a:r>
            <a:endParaRPr lang="en-US" altLang="ko-KR" dirty="0"/>
          </a:p>
          <a:p>
            <a:r>
              <a:rPr lang="en-US" altLang="ko-KR" dirty="0"/>
              <a:t>23/12/26</a:t>
            </a:r>
            <a:endParaRPr lang="ko-KR" alt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sldNum" sz="quarter" idx="10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ea typeface="굴림" charset="-127"/>
              </a:defRPr>
            </a:lvl1pPr>
          </a:lstStyle>
          <a:p>
            <a:pPr>
              <a:defRPr/>
            </a:pPr>
            <a:fld id="{87A7431B-603E-467D-882E-3062B6363ECA}" type="slidenum">
              <a:rPr lang="en-US" altLang="ko-KR" smtClean="0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11" name="Rectangle 4"/>
          <p:cNvSpPr>
            <a:spLocks noChangeArrowheads="1"/>
          </p:cNvSpPr>
          <p:nvPr/>
        </p:nvSpPr>
        <p:spPr>
          <a:xfrm>
            <a:off x="838200" y="1676400"/>
            <a:ext cx="7772400" cy="76200"/>
          </a:xfrm>
          <a:prstGeom prst="rect">
            <a:avLst/>
          </a:prstGeom>
          <a:solidFill>
            <a:srgbClr val="003E7C"/>
          </a:solidFill>
          <a:ln w="9525">
            <a:noFill/>
            <a:miter/>
          </a:ln>
        </p:spPr>
        <p:txBody>
          <a:bodyPr wrap="none" anchor="ctr"/>
          <a:lstStyle/>
          <a:p>
            <a:pPr algn="ctr"/>
            <a:endParaRPr lang="en-US" altLang="ko-KR">
              <a:solidFill>
                <a:schemeClr val="accent2"/>
              </a:solidFill>
              <a:latin typeface="굴림"/>
            </a:endParaRPr>
          </a:p>
        </p:txBody>
      </p:sp>
      <p:sp>
        <p:nvSpPr>
          <p:cNvPr id="12" name="Rectangle 5"/>
          <p:cNvSpPr>
            <a:spLocks noChangeArrowheads="1"/>
          </p:cNvSpPr>
          <p:nvPr/>
        </p:nvSpPr>
        <p:spPr>
          <a:xfrm>
            <a:off x="1116013" y="3548063"/>
            <a:ext cx="7272337" cy="87312"/>
          </a:xfrm>
          <a:prstGeom prst="rect">
            <a:avLst/>
          </a:prstGeom>
          <a:solidFill>
            <a:srgbClr val="003E7C"/>
          </a:solidFill>
          <a:ln w="9525">
            <a:noFill/>
            <a:miter/>
          </a:ln>
        </p:spPr>
        <p:txBody>
          <a:bodyPr wrap="none" anchor="ctr"/>
          <a:lstStyle/>
          <a:p>
            <a:pPr algn="ctr"/>
            <a:endParaRPr lang="en-US" altLang="ko-KR">
              <a:solidFill>
                <a:schemeClr val="accent2"/>
              </a:solidFill>
              <a:latin typeface="굴림"/>
            </a:endParaRPr>
          </a:p>
        </p:txBody>
      </p:sp>
      <p:sp>
        <p:nvSpPr>
          <p:cNvPr id="13" name="Text Box 14"/>
          <p:cNvSpPr txBox="1">
            <a:spLocks noChangeArrowheads="1"/>
          </p:cNvSpPr>
          <p:nvPr/>
        </p:nvSpPr>
        <p:spPr bwMode="auto">
          <a:xfrm rot="16200000">
            <a:off x="-1194593" y="1250156"/>
            <a:ext cx="280828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ko-KR" sz="2000" b="1" i="1">
                <a:solidFill>
                  <a:srgbClr val="000066"/>
                </a:solidFill>
              </a:rPr>
              <a:t>Computer System</a:t>
            </a:r>
            <a:r>
              <a:rPr lang="en-US" altLang="ko-KR" sz="2000" b="1" i="1">
                <a:solidFill>
                  <a:srgbClr val="0000FF"/>
                </a:solidFill>
              </a:rPr>
              <a:t>  </a:t>
            </a:r>
            <a:r>
              <a:rPr lang="en-US" altLang="ko-KR" sz="2000" b="1" i="1">
                <a:solidFill>
                  <a:schemeClr val="bg1"/>
                </a:solidFill>
              </a:rPr>
              <a:t>Lab.</a:t>
            </a:r>
          </a:p>
        </p:txBody>
      </p:sp>
      <p:sp>
        <p:nvSpPr>
          <p:cNvPr id="14" name="Text Box 15"/>
          <p:cNvSpPr txBox="1">
            <a:spLocks noChangeArrowheads="1"/>
          </p:cNvSpPr>
          <p:nvPr/>
        </p:nvSpPr>
        <p:spPr bwMode="auto">
          <a:xfrm rot="16200000">
            <a:off x="-373062" y="5205413"/>
            <a:ext cx="12954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ko-KR" sz="1600" b="1" i="1">
                <a:solidFill>
                  <a:srgbClr val="000066"/>
                </a:solidFill>
              </a:rPr>
              <a:t>University</a:t>
            </a:r>
            <a:endParaRPr lang="en-US" altLang="ko-KR" sz="1600" b="1" i="1">
              <a:solidFill>
                <a:schemeClr val="bg1"/>
              </a:solidFill>
            </a:endParaRPr>
          </a:p>
        </p:txBody>
      </p:sp>
      <p:pic>
        <p:nvPicPr>
          <p:cNvPr id="15" name="Picture 1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4925" y="5805488"/>
            <a:ext cx="381000" cy="92392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sp>
        <p:nvSpPr>
          <p:cNvPr id="16" name="Rectangle 4"/>
          <p:cNvSpPr>
            <a:spLocks noChangeArrowheads="1"/>
          </p:cNvSpPr>
          <p:nvPr/>
        </p:nvSpPr>
        <p:spPr>
          <a:xfrm>
            <a:off x="838200" y="1676400"/>
            <a:ext cx="7772400" cy="76200"/>
          </a:xfrm>
          <a:prstGeom prst="rect">
            <a:avLst/>
          </a:prstGeom>
          <a:solidFill>
            <a:srgbClr val="003E7C"/>
          </a:solidFill>
          <a:ln w="9525">
            <a:noFill/>
            <a:miter/>
          </a:ln>
        </p:spPr>
        <p:txBody>
          <a:bodyPr wrap="none" anchor="ctr"/>
          <a:lstStyle/>
          <a:p>
            <a:pPr algn="ctr"/>
            <a:endParaRPr lang="en-US" altLang="ko-KR">
              <a:solidFill>
                <a:schemeClr val="accent2"/>
              </a:solidFill>
              <a:latin typeface="굴림"/>
            </a:endParaRPr>
          </a:p>
        </p:txBody>
      </p:sp>
      <p:sp>
        <p:nvSpPr>
          <p:cNvPr id="17" name="Rectangle 5"/>
          <p:cNvSpPr>
            <a:spLocks noChangeArrowheads="1"/>
          </p:cNvSpPr>
          <p:nvPr/>
        </p:nvSpPr>
        <p:spPr>
          <a:xfrm>
            <a:off x="1116013" y="3548063"/>
            <a:ext cx="7272337" cy="87312"/>
          </a:xfrm>
          <a:prstGeom prst="rect">
            <a:avLst/>
          </a:prstGeom>
          <a:solidFill>
            <a:srgbClr val="003E7C"/>
          </a:solidFill>
          <a:ln w="9525">
            <a:noFill/>
            <a:miter/>
          </a:ln>
        </p:spPr>
        <p:txBody>
          <a:bodyPr wrap="none" anchor="ctr"/>
          <a:lstStyle/>
          <a:p>
            <a:pPr algn="ctr"/>
            <a:endParaRPr lang="en-US" altLang="ko-KR">
              <a:solidFill>
                <a:schemeClr val="accent2"/>
              </a:solidFill>
              <a:latin typeface="굴림"/>
            </a:endParaRPr>
          </a:p>
        </p:txBody>
      </p:sp>
      <p:sp>
        <p:nvSpPr>
          <p:cNvPr id="18" name="Text Box 14"/>
          <p:cNvSpPr txBox="1">
            <a:spLocks noChangeArrowheads="1"/>
          </p:cNvSpPr>
          <p:nvPr userDrawn="1"/>
        </p:nvSpPr>
        <p:spPr bwMode="auto">
          <a:xfrm rot="16200000">
            <a:off x="-1194593" y="1250156"/>
            <a:ext cx="280828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ko-KR" sz="2000" b="1" i="1">
                <a:solidFill>
                  <a:srgbClr val="000066"/>
                </a:solidFill>
              </a:rPr>
              <a:t>Computer System</a:t>
            </a:r>
            <a:r>
              <a:rPr lang="en-US" altLang="ko-KR" sz="2000" b="1" i="1">
                <a:solidFill>
                  <a:srgbClr val="0000FF"/>
                </a:solidFill>
              </a:rPr>
              <a:t>  </a:t>
            </a:r>
            <a:r>
              <a:rPr lang="en-US" altLang="ko-KR" sz="2000" b="1" i="1">
                <a:solidFill>
                  <a:schemeClr val="bg1"/>
                </a:solidFill>
              </a:rPr>
              <a:t>Lab.</a:t>
            </a:r>
          </a:p>
        </p:txBody>
      </p:sp>
      <p:sp>
        <p:nvSpPr>
          <p:cNvPr id="19" name="Text Box 15"/>
          <p:cNvSpPr txBox="1">
            <a:spLocks noChangeArrowheads="1"/>
          </p:cNvSpPr>
          <p:nvPr userDrawn="1"/>
        </p:nvSpPr>
        <p:spPr bwMode="auto">
          <a:xfrm rot="16200000">
            <a:off x="-373062" y="5205413"/>
            <a:ext cx="12954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ko-KR" sz="1600" b="1" i="1">
                <a:solidFill>
                  <a:srgbClr val="000066"/>
                </a:solidFill>
              </a:rPr>
              <a:t>University</a:t>
            </a:r>
            <a:endParaRPr lang="en-US" altLang="ko-KR" sz="1600" b="1" i="1">
              <a:solidFill>
                <a:schemeClr val="bg1"/>
              </a:solidFill>
            </a:endParaRPr>
          </a:p>
        </p:txBody>
      </p:sp>
      <p:pic>
        <p:nvPicPr>
          <p:cNvPr id="20" name="Picture 16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4925" y="5805488"/>
            <a:ext cx="381000" cy="92392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sp>
        <p:nvSpPr>
          <p:cNvPr id="21" name="Rectangle 4"/>
          <p:cNvSpPr>
            <a:spLocks noChangeArrowheads="1"/>
          </p:cNvSpPr>
          <p:nvPr userDrawn="1"/>
        </p:nvSpPr>
        <p:spPr>
          <a:xfrm>
            <a:off x="838200" y="1676400"/>
            <a:ext cx="7772400" cy="76200"/>
          </a:xfrm>
          <a:prstGeom prst="rect">
            <a:avLst/>
          </a:prstGeom>
          <a:solidFill>
            <a:srgbClr val="003E7C"/>
          </a:solidFill>
          <a:ln w="9525">
            <a:noFill/>
            <a:miter/>
          </a:ln>
        </p:spPr>
        <p:txBody>
          <a:bodyPr wrap="none" anchor="ctr"/>
          <a:lstStyle/>
          <a:p>
            <a:pPr algn="ctr"/>
            <a:endParaRPr lang="en-US" altLang="ko-KR">
              <a:solidFill>
                <a:schemeClr val="accent2"/>
              </a:solidFill>
              <a:latin typeface="굴림"/>
            </a:endParaRPr>
          </a:p>
        </p:txBody>
      </p:sp>
      <p:sp>
        <p:nvSpPr>
          <p:cNvPr id="22" name="Rectangle 5"/>
          <p:cNvSpPr>
            <a:spLocks noChangeArrowheads="1"/>
          </p:cNvSpPr>
          <p:nvPr userDrawn="1"/>
        </p:nvSpPr>
        <p:spPr>
          <a:xfrm>
            <a:off x="1116013" y="3548063"/>
            <a:ext cx="7272337" cy="87312"/>
          </a:xfrm>
          <a:prstGeom prst="rect">
            <a:avLst/>
          </a:prstGeom>
          <a:solidFill>
            <a:srgbClr val="003E7C"/>
          </a:solidFill>
          <a:ln w="9525">
            <a:noFill/>
            <a:miter/>
          </a:ln>
        </p:spPr>
        <p:txBody>
          <a:bodyPr wrap="none" anchor="ctr"/>
          <a:lstStyle/>
          <a:p>
            <a:pPr algn="ctr"/>
            <a:endParaRPr lang="en-US" altLang="ko-KR">
              <a:solidFill>
                <a:schemeClr val="accent2"/>
              </a:solidFill>
              <a:latin typeface="굴림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55650" y="158820"/>
            <a:ext cx="8137525" cy="707886"/>
          </a:xfrm>
        </p:spPr>
        <p:txBody>
          <a:bodyPr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b="0"/>
            </a:lvl1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28675" y="1052513"/>
            <a:ext cx="3919538" cy="52720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00613" y="1052513"/>
            <a:ext cx="3919537" cy="52720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2"/>
          <p:cNvSpPr>
            <a:spLocks noChangeArrowheads="1"/>
          </p:cNvSpPr>
          <p:nvPr/>
        </p:nvSpPr>
        <p:spPr bwMode="gray">
          <a:xfrm>
            <a:off x="804863" y="1484313"/>
            <a:ext cx="8088312" cy="4892675"/>
          </a:xfrm>
          <a:prstGeom prst="ellipse">
            <a:avLst/>
          </a:prstGeom>
          <a:gradFill rotWithShape="0">
            <a:gsLst>
              <a:gs pos="0">
                <a:srgbClr val="FFFF99"/>
              </a:gs>
              <a:gs pos="100000">
                <a:srgbClr val="FFFFFF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</a:ln>
        </p:spPr>
        <p:txBody>
          <a:bodyPr wrap="none" anchor="ctr"/>
          <a:lstStyle/>
          <a:p>
            <a:pPr algn="ctr"/>
            <a:endParaRPr lang="ko-KR" altLang="en-US"/>
          </a:p>
        </p:txBody>
      </p:sp>
      <p:pic>
        <p:nvPicPr>
          <p:cNvPr id="4" name="Picture 4" descr="PE01962_"/>
          <p:cNvPicPr>
            <a:picLocks noChangeAspect="1" noChangeArrowheads="1"/>
          </p:cNvPicPr>
          <p:nvPr/>
        </p:nvPicPr>
        <p:blipFill rotWithShape="1">
          <a:blip r:embed="rId2" cstate="print"/>
          <a:srcRect/>
          <a:stretch>
            <a:fillRect/>
          </a:stretch>
        </p:blipFill>
        <p:spPr>
          <a:xfrm>
            <a:off x="1319213" y="3810000"/>
            <a:ext cx="2362200" cy="2241550"/>
          </a:xfrm>
          <a:prstGeom prst="rect">
            <a:avLst/>
          </a:prstGeom>
          <a:noFill/>
          <a:ln w="9525">
            <a:noFill/>
            <a:miter/>
          </a:ln>
        </p:spPr>
      </p:pic>
      <p:sp>
        <p:nvSpPr>
          <p:cNvPr id="5" name="Text Box 5"/>
          <p:cNvSpPr txBox="1">
            <a:spLocks noChangeArrowheads="1"/>
          </p:cNvSpPr>
          <p:nvPr/>
        </p:nvSpPr>
        <p:spPr bwMode="gray">
          <a:xfrm>
            <a:off x="4643438" y="2468563"/>
            <a:ext cx="3961010" cy="2031325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CC99FF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miter/>
          </a:ln>
          <a:effectLst>
            <a:outerShdw dist="107763" dir="8100000" algn="ctr" rotWithShape="0">
              <a:srgbClr val="868686"/>
            </a:outerShdw>
          </a:effectLst>
        </p:spPr>
        <p:txBody>
          <a:bodyPr wrap="square">
            <a:spAutoFit/>
          </a:bodyPr>
          <a:lstStyle/>
          <a:p>
            <a:r>
              <a:rPr lang="en-US" altLang="ko-KR" sz="1800" b="1" dirty="0">
                <a:latin typeface="Arial"/>
                <a:ea typeface="굴림"/>
              </a:rPr>
              <a:t>Please contact :</a:t>
            </a:r>
          </a:p>
          <a:p>
            <a:endParaRPr lang="en-US" altLang="ko-KR" sz="1800" b="1" dirty="0">
              <a:latin typeface="Arial"/>
              <a:ea typeface="굴림"/>
            </a:endParaRPr>
          </a:p>
          <a:p>
            <a:r>
              <a:rPr lang="ko-KR" altLang="en-US" sz="1800" b="1" dirty="0" err="1">
                <a:latin typeface="HY헤드라인M"/>
                <a:ea typeface="HY헤드라인M"/>
              </a:rPr>
              <a:t>유동균</a:t>
            </a:r>
            <a:endParaRPr lang="en-US" altLang="ko-KR" sz="1800" b="1" dirty="0">
              <a:latin typeface="HY헤드라인M"/>
              <a:ea typeface="HY헤드라인M"/>
            </a:endParaRPr>
          </a:p>
          <a:p>
            <a:r>
              <a:rPr lang="ko-KR" altLang="en-US" sz="1800" b="1" dirty="0">
                <a:latin typeface="HY헤드라인M"/>
                <a:ea typeface="HY헤드라인M"/>
              </a:rPr>
              <a:t>순천향대학교 컴퓨터공학과</a:t>
            </a:r>
          </a:p>
          <a:p>
            <a:r>
              <a:rPr lang="ko-KR" altLang="en-US" sz="1800" b="1" dirty="0">
                <a:latin typeface="HY헤드라인M"/>
                <a:ea typeface="HY헤드라인M"/>
              </a:rPr>
              <a:t>멀티미디어관 </a:t>
            </a:r>
            <a:r>
              <a:rPr lang="en-US" altLang="ko-KR" sz="1800" b="1" dirty="0">
                <a:latin typeface="HY헤드라인M"/>
                <a:ea typeface="HY헤드라인M"/>
              </a:rPr>
              <a:t>M606</a:t>
            </a:r>
          </a:p>
          <a:p>
            <a:endParaRPr lang="en-US" altLang="ko-KR" sz="1800" b="1" dirty="0">
              <a:latin typeface="HY헤드라인M"/>
              <a:ea typeface="HY헤드라인M"/>
            </a:endParaRPr>
          </a:p>
          <a:p>
            <a:r>
              <a:rPr lang="en-US" altLang="ko-KR" sz="1800" b="1" dirty="0">
                <a:latin typeface="Arial"/>
                <a:ea typeface="굴림"/>
              </a:rPr>
              <a:t>Email : a67422830@gmail.com</a:t>
            </a:r>
            <a:endParaRPr lang="ko-KR" altLang="en-US" sz="1800" b="1" dirty="0">
              <a:latin typeface="Arial"/>
              <a:ea typeface="굴림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55576" y="116632"/>
            <a:ext cx="53285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i="1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 rotWithShape="0">
                    <a:srgbClr val="000000">
                      <a:alpha val="40000"/>
                    </a:srgbClr>
                  </a:outerShdw>
                </a:effectLst>
                <a:latin typeface="+mn-ea"/>
                <a:cs typeface="Times New Roman"/>
              </a:rPr>
              <a:t>Question?</a:t>
            </a:r>
            <a:endParaRPr lang="ko-KR" altLang="en-US" sz="4000" b="1" i="1">
              <a:latin typeface="+mj-ea"/>
              <a:ea typeface="+mj-ea"/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755576" y="116632"/>
            <a:ext cx="53285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i="1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 rotWithShape="0">
                    <a:srgbClr val="000000">
                      <a:alpha val="40000"/>
                    </a:srgbClr>
                  </a:outerShdw>
                </a:effectLst>
                <a:latin typeface="+mn-ea"/>
                <a:cs typeface="Times New Roman"/>
              </a:rPr>
              <a:t>Question?</a:t>
            </a:r>
            <a:endParaRPr lang="ko-KR" altLang="en-US" sz="4000" b="1" i="1">
              <a:latin typeface="+mj-ea"/>
              <a:ea typeface="+mj-ea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ko-KR" altLang="en-US" noProof="0"/>
              <a:t>그림을 추가하려면 아이콘을 클릭하십시오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859588" y="188913"/>
            <a:ext cx="2033587" cy="613568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755650" y="188913"/>
            <a:ext cx="5951538" cy="613568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2"/>
          <p:cNvSpPr>
            <a:spLocks noChangeArrowheads="1"/>
          </p:cNvSpPr>
          <p:nvPr/>
        </p:nvSpPr>
        <p:spPr bwMode="gray">
          <a:xfrm>
            <a:off x="804863" y="1484313"/>
            <a:ext cx="8088312" cy="4892675"/>
          </a:xfrm>
          <a:prstGeom prst="ellipse">
            <a:avLst/>
          </a:prstGeom>
          <a:gradFill rotWithShape="0">
            <a:gsLst>
              <a:gs pos="0">
                <a:srgbClr val="FFFF99"/>
              </a:gs>
              <a:gs pos="100000">
                <a:srgbClr val="FFFFFF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</a:ln>
        </p:spPr>
        <p:txBody>
          <a:bodyPr wrap="none" anchor="ctr"/>
          <a:lstStyle/>
          <a:p>
            <a:pPr algn="ctr"/>
            <a:endParaRPr lang="ko-KR" altLang="en-US"/>
          </a:p>
        </p:txBody>
      </p:sp>
      <p:pic>
        <p:nvPicPr>
          <p:cNvPr id="4" name="Picture 4" descr="PE01962_"/>
          <p:cNvPicPr>
            <a:picLocks noChangeAspect="1" noChangeArrowheads="1"/>
          </p:cNvPicPr>
          <p:nvPr/>
        </p:nvPicPr>
        <p:blipFill rotWithShape="1">
          <a:blip r:embed="rId2" cstate="print"/>
          <a:srcRect/>
          <a:stretch>
            <a:fillRect/>
          </a:stretch>
        </p:blipFill>
        <p:spPr>
          <a:xfrm>
            <a:off x="1319213" y="3810000"/>
            <a:ext cx="2362200" cy="2241550"/>
          </a:xfrm>
          <a:prstGeom prst="rect">
            <a:avLst/>
          </a:prstGeom>
          <a:noFill/>
          <a:ln w="9525">
            <a:noFill/>
            <a:miter/>
          </a:ln>
        </p:spPr>
      </p:pic>
      <p:sp>
        <p:nvSpPr>
          <p:cNvPr id="5" name="Text Box 5"/>
          <p:cNvSpPr txBox="1">
            <a:spLocks noChangeArrowheads="1"/>
          </p:cNvSpPr>
          <p:nvPr/>
        </p:nvSpPr>
        <p:spPr bwMode="gray">
          <a:xfrm>
            <a:off x="4643438" y="2468563"/>
            <a:ext cx="3961010" cy="1754326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CC99FF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miter/>
          </a:ln>
          <a:effectLst>
            <a:outerShdw dist="107763" dir="8100000" algn="ctr" rotWithShape="0">
              <a:srgbClr val="868686"/>
            </a:outerShdw>
          </a:effectLst>
        </p:spPr>
        <p:txBody>
          <a:bodyPr wrap="square">
            <a:spAutoFit/>
          </a:bodyPr>
          <a:lstStyle/>
          <a:p>
            <a:r>
              <a:rPr lang="en-US" altLang="ko-KR" sz="1800" b="1" dirty="0">
                <a:latin typeface="Arial"/>
                <a:ea typeface="굴림"/>
              </a:rPr>
              <a:t>Please contact :</a:t>
            </a:r>
          </a:p>
          <a:p>
            <a:endParaRPr lang="en-US" altLang="ko-KR" sz="1800" b="1" dirty="0">
              <a:latin typeface="Arial"/>
              <a:ea typeface="굴림"/>
            </a:endParaRPr>
          </a:p>
          <a:p>
            <a:r>
              <a:rPr lang="ko-KR" altLang="en-US" sz="1800" b="1" dirty="0" err="1">
                <a:latin typeface="HY헤드라인M"/>
                <a:ea typeface="HY헤드라인M"/>
              </a:rPr>
              <a:t>유동균</a:t>
            </a:r>
            <a:endParaRPr lang="en-US" altLang="ko-KR" sz="1800" b="1" dirty="0">
              <a:latin typeface="HY헤드라인M"/>
              <a:ea typeface="HY헤드라인M"/>
            </a:endParaRPr>
          </a:p>
          <a:p>
            <a:r>
              <a:rPr lang="ko-KR" altLang="en-US" sz="1800" b="1" dirty="0">
                <a:latin typeface="HY헤드라인M"/>
                <a:ea typeface="HY헤드라인M"/>
              </a:rPr>
              <a:t>순천향대학교 컴퓨터공학과</a:t>
            </a:r>
          </a:p>
          <a:p>
            <a:r>
              <a:rPr lang="ko-KR" altLang="en-US" sz="1800" b="1" dirty="0">
                <a:latin typeface="HY헤드라인M"/>
                <a:ea typeface="HY헤드라인M"/>
              </a:rPr>
              <a:t>멀티미디어관 </a:t>
            </a:r>
            <a:r>
              <a:rPr lang="en-US" altLang="ko-KR" sz="1800" b="1" dirty="0">
                <a:latin typeface="HY헤드라인M"/>
                <a:ea typeface="HY헤드라인M"/>
              </a:rPr>
              <a:t>M606</a:t>
            </a:r>
          </a:p>
          <a:p>
            <a:endParaRPr lang="en-US" altLang="ko-KR" sz="1800" b="1" dirty="0">
              <a:latin typeface="HY헤드라인M"/>
              <a:ea typeface="HY헤드라인M"/>
            </a:endParaRPr>
          </a:p>
        </p:txBody>
      </p:sp>
      <p:sp>
        <p:nvSpPr>
          <p:cNvPr id="6" name="TextBox 5"/>
          <p:cNvSpPr txBox="1"/>
          <p:nvPr userDrawn="1"/>
        </p:nvSpPr>
        <p:spPr>
          <a:xfrm>
            <a:off x="755576" y="116632"/>
            <a:ext cx="53285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i="1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 rotWithShape="0">
                    <a:srgbClr val="000000">
                      <a:alpha val="40000"/>
                    </a:srgbClr>
                  </a:outerShdw>
                </a:effectLst>
                <a:latin typeface="+mn-ea"/>
                <a:cs typeface="Times New Roman"/>
              </a:rPr>
              <a:t>Question?</a:t>
            </a:r>
            <a:endParaRPr lang="ko-KR" altLang="en-US" sz="4000" b="1" i="1">
              <a:latin typeface="+mj-ea"/>
              <a:ea typeface="+mj-ea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188913"/>
            <a:ext cx="8137525" cy="6477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anchor="ctr" anchorCtr="0"/>
          <a:lstStyle/>
          <a:p>
            <a:pPr lvl="0"/>
            <a:r>
              <a:rPr lang="ko-KR" altLang="en-US"/>
              <a:t>마스터 제목 유형을 편집하려면 누르십시오</a:t>
            </a:r>
            <a:r>
              <a:rPr lang="en-US" altLang="ko-KR"/>
              <a:t>. 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8675" y="1052513"/>
            <a:ext cx="7991475" cy="5272087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anchor="t" anchorCtr="0"/>
          <a:lstStyle/>
          <a:p>
            <a:pPr lvl="0"/>
            <a:r>
              <a:rPr lang="ko-KR" altLang="en-US"/>
              <a:t>마스터 문자열 유형을 편집하려면 누르십시오</a:t>
            </a:r>
            <a:r>
              <a:rPr lang="en-US" altLang="ko-KR"/>
              <a:t>.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세째 수준</a:t>
            </a:r>
          </a:p>
          <a:p>
            <a:pPr lvl="3"/>
            <a:r>
              <a:rPr lang="ko-KR" altLang="en-US"/>
              <a:t>네째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0182" name="Rectangle 6"/>
          <p:cNvSpPr>
            <a:spLocks noChangeArrowheads="1"/>
          </p:cNvSpPr>
          <p:nvPr/>
        </p:nvSpPr>
        <p:spPr>
          <a:xfrm>
            <a:off x="684213" y="908050"/>
            <a:ext cx="8459787" cy="6985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rgbClr val="000066"/>
              </a:gs>
            </a:gsLst>
            <a:lin ang="0" scaled="1"/>
          </a:gradFill>
          <a:ln w="9525">
            <a:noFill/>
            <a:miter/>
          </a:ln>
          <a:effectLst/>
        </p:spPr>
        <p:txBody>
          <a:bodyPr wrap="none" anchor="ctr"/>
          <a:lstStyle/>
          <a:p>
            <a:pPr algn="ctr"/>
            <a:endParaRPr lang="ko-KR" altLang="en-US"/>
          </a:p>
        </p:txBody>
      </p:sp>
      <p:sp>
        <p:nvSpPr>
          <p:cNvPr id="50184" name="Rectangle 8"/>
          <p:cNvSpPr>
            <a:spLocks noChangeArrowheads="1"/>
          </p:cNvSpPr>
          <p:nvPr/>
        </p:nvSpPr>
        <p:spPr>
          <a:xfrm>
            <a:off x="6988175" y="6477000"/>
            <a:ext cx="1905000" cy="381000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/>
          <a:lstStyle/>
          <a:p>
            <a:pPr algn="r"/>
            <a:fld id="{467224BF-58AA-4D3F-AC6F-AA05367478A1}" type="slidenum">
              <a:rPr lang="en-US" altLang="ko-KR" sz="1400"/>
              <a:pPr algn="r"/>
              <a:t>‹#›</a:t>
            </a:fld>
            <a:endParaRPr lang="en-US" altLang="ko-KR" sz="1400"/>
          </a:p>
        </p:txBody>
      </p:sp>
      <p:sp>
        <p:nvSpPr>
          <p:cNvPr id="50188" name="Rectangle 12"/>
          <p:cNvSpPr>
            <a:spLocks noChangeArrowheads="1"/>
          </p:cNvSpPr>
          <p:nvPr/>
        </p:nvSpPr>
        <p:spPr>
          <a:xfrm rot="5400000">
            <a:off x="-2432843" y="2432843"/>
            <a:ext cx="5334000" cy="468313"/>
          </a:xfrm>
          <a:prstGeom prst="rect">
            <a:avLst/>
          </a:prstGeom>
          <a:gradFill rotWithShape="0">
            <a:gsLst>
              <a:gs pos="0">
                <a:srgbClr val="000066"/>
              </a:gs>
              <a:gs pos="100000">
                <a:schemeClr val="bg1"/>
              </a:gs>
            </a:gsLst>
            <a:lin ang="5400000" scaled="1"/>
          </a:gradFill>
          <a:ln w="9525">
            <a:noFill/>
            <a:miter/>
          </a:ln>
          <a:effectLst/>
        </p:spPr>
        <p:txBody>
          <a:bodyPr wrap="none" anchor="ctr"/>
          <a:lstStyle/>
          <a:p>
            <a:pPr algn="ctr"/>
            <a:endParaRPr lang="ko-KR" altLang="en-US"/>
          </a:p>
        </p:txBody>
      </p:sp>
      <p:sp>
        <p:nvSpPr>
          <p:cNvPr id="50195" name="Text Box 19"/>
          <p:cNvSpPr txBox="1">
            <a:spLocks noChangeArrowheads="1"/>
          </p:cNvSpPr>
          <p:nvPr/>
        </p:nvSpPr>
        <p:spPr>
          <a:xfrm rot="16200000">
            <a:off x="-1194593" y="1250156"/>
            <a:ext cx="2808288" cy="396875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>
            <a:spAutoFit/>
          </a:bodyPr>
          <a:lstStyle/>
          <a:p>
            <a:pPr algn="ctr"/>
            <a:r>
              <a:rPr lang="en-US" altLang="ko-KR" sz="2000" b="1" i="1">
                <a:solidFill>
                  <a:srgbClr val="000066"/>
                </a:solidFill>
              </a:rPr>
              <a:t>Computer System</a:t>
            </a:r>
            <a:r>
              <a:rPr lang="en-US" altLang="ko-KR" sz="2000" b="1" i="1">
                <a:solidFill>
                  <a:srgbClr val="0000FF"/>
                </a:solidFill>
              </a:rPr>
              <a:t>  </a:t>
            </a:r>
            <a:r>
              <a:rPr lang="en-US" altLang="ko-KR" sz="2000" b="1" i="1">
                <a:solidFill>
                  <a:schemeClr val="bg1"/>
                </a:solidFill>
              </a:rPr>
              <a:t>Lab.</a:t>
            </a:r>
          </a:p>
        </p:txBody>
      </p:sp>
      <p:sp>
        <p:nvSpPr>
          <p:cNvPr id="50196" name="Text Box 20"/>
          <p:cNvSpPr txBox="1">
            <a:spLocks noChangeArrowheads="1"/>
          </p:cNvSpPr>
          <p:nvPr/>
        </p:nvSpPr>
        <p:spPr>
          <a:xfrm rot="16200000">
            <a:off x="-373062" y="5205413"/>
            <a:ext cx="1295400" cy="336550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>
            <a:spAutoFit/>
          </a:bodyPr>
          <a:lstStyle/>
          <a:p>
            <a:pPr algn="ctr"/>
            <a:r>
              <a:rPr lang="en-US" altLang="ko-KR" sz="1600" b="1" i="1">
                <a:solidFill>
                  <a:srgbClr val="000066"/>
                </a:solidFill>
              </a:rPr>
              <a:t>University</a:t>
            </a:r>
            <a:endParaRPr lang="en-US" altLang="ko-KR" sz="1600" b="1" i="1">
              <a:solidFill>
                <a:schemeClr val="bg1"/>
              </a:solidFill>
            </a:endParaRPr>
          </a:p>
        </p:txBody>
      </p:sp>
      <p:pic>
        <p:nvPicPr>
          <p:cNvPr id="1033" name="Picture 21"/>
          <p:cNvPicPr>
            <a:picLocks noChangeAspect="1" noChangeArrowheads="1"/>
          </p:cNvPicPr>
          <p:nvPr/>
        </p:nvPicPr>
        <p:blipFill rotWithShape="1">
          <a:blip r:embed="rId14" cstate="print"/>
          <a:srcRect/>
          <a:stretch>
            <a:fillRect/>
          </a:stretch>
        </p:blipFill>
        <p:spPr>
          <a:xfrm>
            <a:off x="34925" y="5805488"/>
            <a:ext cx="381000" cy="923925"/>
          </a:xfrm>
          <a:prstGeom prst="rect">
            <a:avLst/>
          </a:prstGeom>
          <a:noFill/>
          <a:ln w="28575" algn="ctr">
            <a:noFill/>
            <a:miter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  <p:sldLayoutId id="2147483745" r:id="rId12"/>
  </p:sldLayoutIdLst>
  <p:txStyles>
    <p:titleStyle>
      <a:lvl1pPr algn="l" rtl="0" eaLnBrk="1" fontAlgn="base" latinLnBrk="1" hangingPunct="1">
        <a:spcBef>
          <a:spcPct val="0"/>
        </a:spcBef>
        <a:spcAft>
          <a:spcPct val="0"/>
        </a:spcAft>
        <a:defRPr kumimoji="1" sz="4000" b="1" i="1">
          <a:solidFill>
            <a:srgbClr val="000066"/>
          </a:solidFill>
          <a:latin typeface="+mj-lt"/>
          <a:ea typeface="+mj-ea"/>
          <a:cs typeface="+mj-cs"/>
        </a:defRPr>
      </a:lvl1pPr>
      <a:lvl2pPr algn="l" rtl="0" eaLnBrk="1" fontAlgn="base" latinLnBrk="1" hangingPunct="1">
        <a:spcBef>
          <a:spcPct val="0"/>
        </a:spcBef>
        <a:spcAft>
          <a:spcPct val="0"/>
        </a:spcAft>
        <a:defRPr kumimoji="1" sz="4000" b="1" i="1">
          <a:solidFill>
            <a:srgbClr val="000066"/>
          </a:solidFill>
          <a:latin typeface="HY헤드라인M"/>
          <a:ea typeface="HY헤드라인M"/>
        </a:defRPr>
      </a:lvl2pPr>
      <a:lvl3pPr algn="l" rtl="0" eaLnBrk="1" fontAlgn="base" latinLnBrk="1" hangingPunct="1">
        <a:spcBef>
          <a:spcPct val="0"/>
        </a:spcBef>
        <a:spcAft>
          <a:spcPct val="0"/>
        </a:spcAft>
        <a:defRPr kumimoji="1" sz="4000" b="1" i="1">
          <a:solidFill>
            <a:srgbClr val="000066"/>
          </a:solidFill>
          <a:latin typeface="HY헤드라인M"/>
          <a:ea typeface="HY헤드라인M"/>
        </a:defRPr>
      </a:lvl3pPr>
      <a:lvl4pPr algn="l" rtl="0" eaLnBrk="1" fontAlgn="base" latinLnBrk="1" hangingPunct="1">
        <a:spcBef>
          <a:spcPct val="0"/>
        </a:spcBef>
        <a:spcAft>
          <a:spcPct val="0"/>
        </a:spcAft>
        <a:defRPr kumimoji="1" sz="4000" b="1" i="1">
          <a:solidFill>
            <a:srgbClr val="000066"/>
          </a:solidFill>
          <a:latin typeface="HY헤드라인M"/>
          <a:ea typeface="HY헤드라인M"/>
        </a:defRPr>
      </a:lvl4pPr>
      <a:lvl5pPr algn="l" rtl="0" eaLnBrk="1" fontAlgn="base" latinLnBrk="1" hangingPunct="1">
        <a:spcBef>
          <a:spcPct val="0"/>
        </a:spcBef>
        <a:spcAft>
          <a:spcPct val="0"/>
        </a:spcAft>
        <a:defRPr kumimoji="1" sz="4000" b="1" i="1">
          <a:solidFill>
            <a:srgbClr val="000066"/>
          </a:solidFill>
          <a:latin typeface="HY헤드라인M"/>
          <a:ea typeface="HY헤드라인M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kumimoji="1" sz="4000" b="1" i="1">
          <a:solidFill>
            <a:srgbClr val="000066"/>
          </a:solidFill>
          <a:latin typeface="HY헤드라인M"/>
          <a:ea typeface="HY헤드라인M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kumimoji="1" sz="4000" b="1" i="1">
          <a:solidFill>
            <a:srgbClr val="000066"/>
          </a:solidFill>
          <a:latin typeface="HY헤드라인M"/>
          <a:ea typeface="HY헤드라인M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kumimoji="1" sz="4000" b="1" i="1">
          <a:solidFill>
            <a:srgbClr val="000066"/>
          </a:solidFill>
          <a:latin typeface="HY헤드라인M"/>
          <a:ea typeface="HY헤드라인M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kumimoji="1" sz="4000" b="1" i="1">
          <a:solidFill>
            <a:srgbClr val="000066"/>
          </a:solidFill>
          <a:latin typeface="HY헤드라인M"/>
          <a:ea typeface="HY헤드라인M"/>
        </a:defRPr>
      </a:lvl9pPr>
    </p:titleStyle>
    <p:bodyStyle>
      <a:lvl1pPr marL="342900" indent="-342900" algn="l" rtl="0" eaLnBrk="1" fontAlgn="base" latinLnBrk="1" hangingPunct="1">
        <a:spcBef>
          <a:spcPct val="20000"/>
        </a:spcBef>
        <a:spcAft>
          <a:spcPct val="0"/>
        </a:spcAft>
        <a:buSzPct val="80000"/>
        <a:buFont typeface="Wingdings"/>
        <a:buChar char="u"/>
        <a:defRPr kumimoji="1" sz="28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latinLnBrk="1" hangingPunct="1">
        <a:spcBef>
          <a:spcPct val="20000"/>
        </a:spcBef>
        <a:spcAft>
          <a:spcPct val="0"/>
        </a:spcAft>
        <a:buSzPct val="110000"/>
        <a:buFont typeface="Wingdings"/>
        <a:buChar char="ü"/>
        <a:defRPr kumimoji="1"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latinLnBrk="1" hangingPunct="1">
        <a:spcBef>
          <a:spcPct val="20000"/>
        </a:spcBef>
        <a:spcAft>
          <a:spcPct val="0"/>
        </a:spcAft>
        <a:buFont typeface="Wingdings"/>
        <a:buChar char="Ø"/>
        <a:defRPr kumimoji="1"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latinLnBrk="1" hangingPunct="1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://eureka-server:8761/eureka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BA242A-9D6D-D5F0-49FA-D7F64E0A899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논문 프로젝트</a:t>
            </a:r>
            <a:r>
              <a:rPr lang="en-US" altLang="ko-KR" dirty="0"/>
              <a:t>7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F259FBF-CA7E-38AB-74F9-500D0F10542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순천향대학교</a:t>
            </a:r>
            <a:endParaRPr lang="en-US" altLang="ko-KR" dirty="0"/>
          </a:p>
          <a:p>
            <a:r>
              <a:rPr lang="ko-KR" altLang="en-US" dirty="0"/>
              <a:t>컴퓨터시스템연구실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 err="1"/>
              <a:t>유동균</a:t>
            </a:r>
            <a:endParaRPr lang="en-US" altLang="ko-KR" dirty="0"/>
          </a:p>
          <a:p>
            <a:r>
              <a:rPr lang="en-US" altLang="ko-KR" dirty="0"/>
              <a:t>25/04/10</a:t>
            </a:r>
          </a:p>
        </p:txBody>
      </p:sp>
    </p:spTree>
    <p:extLst>
      <p:ext uri="{BB962C8B-B14F-4D97-AF65-F5344CB8AC3E}">
        <p14:creationId xmlns:p14="http://schemas.microsoft.com/office/powerpoint/2010/main" val="514904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086CDC-20D2-563F-2B2A-B6BE5B47B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7A0CC9-B749-2242-7365-0E9537911B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088" y="1124744"/>
            <a:ext cx="8426648" cy="52720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dirty="0"/>
              <a:t>1. </a:t>
            </a:r>
            <a:r>
              <a:rPr lang="ko-KR" altLang="en-US" dirty="0"/>
              <a:t>프로젝트의 현 상황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2. Spring Cloud</a:t>
            </a:r>
            <a:r>
              <a:rPr lang="ko-KR" altLang="en-US" dirty="0"/>
              <a:t>의 내부 코드 내용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3. </a:t>
            </a:r>
            <a:r>
              <a:rPr lang="ko-KR" altLang="en-US" dirty="0"/>
              <a:t>기능 구현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4. </a:t>
            </a:r>
            <a:r>
              <a:rPr lang="ko-KR" altLang="en-US" dirty="0" err="1"/>
              <a:t>쿠버네티스</a:t>
            </a:r>
            <a:r>
              <a:rPr lang="ko-KR" altLang="en-US" dirty="0"/>
              <a:t> 적용</a:t>
            </a:r>
            <a:endParaRPr lang="en-US" altLang="ko-KR" dirty="0"/>
          </a:p>
          <a:p>
            <a:pPr marL="514350" indent="-514350">
              <a:buAutoNum type="arabicPeriod"/>
            </a:pPr>
            <a:endParaRPr lang="en-US" altLang="ko-KR" dirty="0"/>
          </a:p>
          <a:p>
            <a:pPr marL="514350" indent="-514350">
              <a:buAutoNum type="arabicPeriod"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1830477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31D391-1B38-61E9-C8B9-D6CB23415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오류 해결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37B6286-0571-FF00-BABE-3CA3BA6C42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오류 발생 이유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sz="2400" dirty="0"/>
              <a:t> =&gt; </a:t>
            </a:r>
            <a:r>
              <a:rPr lang="en-US" altLang="ko-KR" sz="2400" dirty="0" err="1"/>
              <a:t>application.yml</a:t>
            </a:r>
            <a:r>
              <a:rPr lang="ko-KR" altLang="en-US" sz="2400" dirty="0"/>
              <a:t> 파일과 추가적인 코드의 </a:t>
            </a:r>
            <a:r>
              <a:rPr lang="ko-KR" altLang="en-US" sz="2400" dirty="0">
                <a:solidFill>
                  <a:srgbClr val="FF0000"/>
                </a:solidFill>
              </a:rPr>
              <a:t>변경</a:t>
            </a:r>
            <a:r>
              <a:rPr lang="ko-KR" altLang="en-US" sz="2400" dirty="0"/>
              <a:t>이 있었고 이를 적용한 </a:t>
            </a:r>
            <a:r>
              <a:rPr lang="en-US" altLang="ko-KR" sz="2400" dirty="0" err="1">
                <a:solidFill>
                  <a:srgbClr val="FF0000"/>
                </a:solidFill>
              </a:rPr>
              <a:t>Dockerfile</a:t>
            </a:r>
            <a:r>
              <a:rPr lang="en-US" altLang="ko-KR" sz="2400" dirty="0">
                <a:solidFill>
                  <a:srgbClr val="FF0000"/>
                </a:solidFill>
              </a:rPr>
              <a:t> </a:t>
            </a:r>
            <a:r>
              <a:rPr lang="ko-KR" altLang="en-US" sz="2400" dirty="0">
                <a:solidFill>
                  <a:srgbClr val="FF0000"/>
                </a:solidFill>
              </a:rPr>
              <a:t>이미지</a:t>
            </a:r>
            <a:r>
              <a:rPr lang="ko-KR" altLang="en-US" sz="2400" dirty="0"/>
              <a:t>를 사용하지 않았음</a:t>
            </a:r>
            <a:endParaRPr lang="en-US" altLang="ko-KR" sz="2400" dirty="0"/>
          </a:p>
          <a:p>
            <a:pPr marL="0" indent="0">
              <a:buNone/>
            </a:pPr>
            <a:endParaRPr lang="en-US" altLang="ko-KR" sz="2400" dirty="0"/>
          </a:p>
          <a:p>
            <a:pPr marL="0" indent="0">
              <a:buNone/>
            </a:pPr>
            <a:r>
              <a:rPr lang="en-US" altLang="ko-KR" sz="2400" dirty="0"/>
              <a:t>=&gt; </a:t>
            </a:r>
            <a:r>
              <a:rPr lang="ko-KR" altLang="en-US" sz="2400" dirty="0"/>
              <a:t>이전 </a:t>
            </a:r>
            <a:r>
              <a:rPr lang="en-US" altLang="ko-KR" sz="2400" dirty="0"/>
              <a:t>target</a:t>
            </a:r>
            <a:r>
              <a:rPr lang="ko-KR" altLang="en-US" sz="2400" dirty="0"/>
              <a:t>폴더에 </a:t>
            </a:r>
            <a:r>
              <a:rPr lang="en-US" altLang="ko-KR" sz="2400" dirty="0"/>
              <a:t>localhost:8761/eureka </a:t>
            </a:r>
            <a:r>
              <a:rPr lang="ko-KR" altLang="en-US" sz="2400" dirty="0"/>
              <a:t>의 </a:t>
            </a:r>
            <a:r>
              <a:rPr lang="en-US" altLang="ko-KR" sz="2400" dirty="0"/>
              <a:t>URL</a:t>
            </a:r>
            <a:r>
              <a:rPr lang="ko-KR" altLang="en-US" sz="2400" dirty="0"/>
              <a:t>로 지정이 되어있었음</a:t>
            </a:r>
            <a:endParaRPr lang="en-US" altLang="ko-KR" sz="2400" dirty="0"/>
          </a:p>
          <a:p>
            <a:pPr marL="0" indent="0">
              <a:buNone/>
            </a:pPr>
            <a:r>
              <a:rPr lang="en-US" altLang="ko-KR" sz="2400" dirty="0">
                <a:hlinkClick r:id="rId2"/>
              </a:rPr>
              <a:t>http://eureka-server:8761/eureka/</a:t>
            </a:r>
            <a:r>
              <a:rPr lang="en-US" altLang="ko-KR" sz="2400" dirty="0"/>
              <a:t> </a:t>
            </a:r>
            <a:r>
              <a:rPr lang="ko-KR" altLang="en-US" sz="2400" dirty="0"/>
              <a:t>로 사용해야 함</a:t>
            </a:r>
            <a:endParaRPr lang="en-US" altLang="ko-KR" sz="2400" dirty="0"/>
          </a:p>
          <a:p>
            <a:pPr marL="0" indent="0">
              <a:buNone/>
            </a:pPr>
            <a:endParaRPr lang="en-US" altLang="ko-KR" sz="2400" dirty="0"/>
          </a:p>
          <a:p>
            <a:pPr marL="0" indent="0">
              <a:buNone/>
            </a:pPr>
            <a:endParaRPr lang="en-US" altLang="ko-KR" sz="2400" dirty="0"/>
          </a:p>
        </p:txBody>
      </p:sp>
      <p:pic>
        <p:nvPicPr>
          <p:cNvPr id="5" name="그림 4" descr="텍스트, 스크린샷, 소프트웨어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318099C1-80CF-5724-7E5B-B6D0FDC04B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4077073"/>
            <a:ext cx="6912768" cy="2743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1562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5A8CF1-0B57-5CC2-7EAA-E7C73E101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오류 해결 후</a:t>
            </a:r>
          </a:p>
        </p:txBody>
      </p:sp>
      <p:pic>
        <p:nvPicPr>
          <p:cNvPr id="5" name="내용 개체 틀 4" descr="텍스트, 스크린샷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1309FAB4-8BD9-0AD6-D92C-E15E6DA746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088"/>
          <a:stretch/>
        </p:blipFill>
        <p:spPr>
          <a:xfrm>
            <a:off x="35496" y="897688"/>
            <a:ext cx="6580724" cy="3467416"/>
          </a:xfrm>
        </p:spPr>
      </p:pic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494609DD-3F3E-09EA-CC9D-69AEC2AD6CC7}"/>
              </a:ext>
            </a:extLst>
          </p:cNvPr>
          <p:cNvCxnSpPr/>
          <p:nvPr/>
        </p:nvCxnSpPr>
        <p:spPr>
          <a:xfrm>
            <a:off x="1043608" y="1052736"/>
            <a:ext cx="1872208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</a:ln>
          <a:effectLst/>
        </p:spPr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85907941-AA5C-2EEA-66BB-3B207DA4AE5C}"/>
              </a:ext>
            </a:extLst>
          </p:cNvPr>
          <p:cNvSpPr txBox="1"/>
          <p:nvPr/>
        </p:nvSpPr>
        <p:spPr>
          <a:xfrm>
            <a:off x="3707904" y="2348880"/>
            <a:ext cx="864096" cy="201622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pic>
        <p:nvPicPr>
          <p:cNvPr id="7" name="그림 6" descr="텍스트, 스크린샷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B7C23579-5260-08B6-4CB9-F18844365A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5269" y="980729"/>
            <a:ext cx="4464496" cy="5303894"/>
          </a:xfrm>
          <a:prstGeom prst="rect">
            <a:avLst/>
          </a:prstGeom>
        </p:spPr>
      </p:pic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C903885C-3E56-E642-EB73-6BECB79DD07D}"/>
              </a:ext>
            </a:extLst>
          </p:cNvPr>
          <p:cNvCxnSpPr>
            <a:cxnSpLocks/>
          </p:cNvCxnSpPr>
          <p:nvPr/>
        </p:nvCxnSpPr>
        <p:spPr>
          <a:xfrm>
            <a:off x="5936124" y="1916832"/>
            <a:ext cx="1154880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</a:ln>
          <a:effectLst/>
        </p:spPr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D375C6F9-C1D9-5960-35B7-0009A833E984}"/>
              </a:ext>
            </a:extLst>
          </p:cNvPr>
          <p:cNvCxnSpPr>
            <a:cxnSpLocks/>
          </p:cNvCxnSpPr>
          <p:nvPr/>
        </p:nvCxnSpPr>
        <p:spPr>
          <a:xfrm>
            <a:off x="5508104" y="4941168"/>
            <a:ext cx="1368152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</a:ln>
          <a:effectLst/>
        </p:spPr>
      </p:cxnSp>
    </p:spTree>
    <p:extLst>
      <p:ext uri="{BB962C8B-B14F-4D97-AF65-F5344CB8AC3E}">
        <p14:creationId xmlns:p14="http://schemas.microsoft.com/office/powerpoint/2010/main" val="13180978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629197-877F-7C2B-ABE2-27741813A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Kubernetes </a:t>
            </a:r>
            <a:r>
              <a:rPr lang="ko-KR" altLang="en-US" dirty="0"/>
              <a:t>의 설치 및 사용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5DDB2DA-85F0-7DCD-B154-8A71704B39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Cri-</a:t>
            </a:r>
            <a:r>
              <a:rPr lang="en-US" altLang="ko-KR" dirty="0" err="1"/>
              <a:t>dockerd</a:t>
            </a:r>
            <a:r>
              <a:rPr lang="en-US" altLang="ko-KR" dirty="0"/>
              <a:t> </a:t>
            </a:r>
            <a:r>
              <a:rPr lang="ko-KR" altLang="en-US" dirty="0"/>
              <a:t>사용을 위해 </a:t>
            </a:r>
            <a:r>
              <a:rPr lang="en-US" altLang="ko-KR" dirty="0" err="1"/>
              <a:t>golang</a:t>
            </a:r>
            <a:r>
              <a:rPr lang="ko-KR" altLang="en-US" dirty="0"/>
              <a:t> 다운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 </a:t>
            </a:r>
            <a:r>
              <a:rPr lang="en-US" altLang="ko-KR" dirty="0" err="1"/>
              <a:t>kubeadm</a:t>
            </a:r>
            <a:r>
              <a:rPr lang="en-US" altLang="ko-KR" dirty="0"/>
              <a:t>, Helm, Keda </a:t>
            </a:r>
            <a:r>
              <a:rPr lang="ko-KR" altLang="en-US" dirty="0"/>
              <a:t>설치 완료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 </a:t>
            </a:r>
            <a:r>
              <a:rPr lang="en-US" altLang="ko-KR" dirty="0" err="1"/>
              <a:t>Kubeadm</a:t>
            </a:r>
            <a:r>
              <a:rPr lang="en-US" altLang="ko-KR" dirty="0"/>
              <a:t> </a:t>
            </a:r>
            <a:r>
              <a:rPr lang="ko-KR" altLang="en-US" dirty="0"/>
              <a:t>과 </a:t>
            </a:r>
            <a:r>
              <a:rPr lang="en-US" altLang="ko-KR" dirty="0" err="1"/>
              <a:t>kubelet</a:t>
            </a:r>
            <a:r>
              <a:rPr lang="en-US" altLang="ko-KR" dirty="0"/>
              <a:t> </a:t>
            </a:r>
            <a:r>
              <a:rPr lang="ko-KR" altLang="en-US" dirty="0"/>
              <a:t>등 버전 고정</a:t>
            </a:r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CA454CC-EB44-C294-739E-91AA74D339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2564904"/>
            <a:ext cx="5501213" cy="92083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6F5BA582-809D-EA80-C3EF-3264D2BB0D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029" y="4293096"/>
            <a:ext cx="5491786" cy="964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74812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3007B3-9664-2AF2-8333-EA8964622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3600" dirty="0"/>
              <a:t>실행 </a:t>
            </a:r>
            <a:r>
              <a:rPr lang="ko-KR" altLang="en-US" sz="3600" dirty="0" err="1"/>
              <a:t>되고있는</a:t>
            </a:r>
            <a:r>
              <a:rPr lang="ko-KR" altLang="en-US" sz="3600" dirty="0"/>
              <a:t> 컨테이너 </a:t>
            </a:r>
            <a:r>
              <a:rPr lang="en-US" altLang="ko-KR" sz="3600" dirty="0"/>
              <a:t>control plane</a:t>
            </a:r>
            <a:endParaRPr lang="ko-KR" altLang="en-US" sz="3600" dirty="0"/>
          </a:p>
        </p:txBody>
      </p:sp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A5D3021D-F230-E267-04F9-58756634B7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23827"/>
          <a:stretch/>
        </p:blipFill>
        <p:spPr>
          <a:xfrm>
            <a:off x="35496" y="1052736"/>
            <a:ext cx="8898527" cy="1944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01019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F46D0B-820A-979A-2D2B-304B34FE1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기능 구현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DD1A763-ABD5-CB07-94C9-A5503503DF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8675" y="1052513"/>
            <a:ext cx="7991475" cy="5544839"/>
          </a:xfrm>
        </p:spPr>
        <p:txBody>
          <a:bodyPr>
            <a:normAutofit/>
          </a:bodyPr>
          <a:lstStyle/>
          <a:p>
            <a:r>
              <a:rPr lang="en-US" altLang="ko-KR" dirty="0"/>
              <a:t> </a:t>
            </a:r>
            <a:r>
              <a:rPr lang="ko-KR" altLang="en-US" dirty="0" err="1"/>
              <a:t>오토스케일링과</a:t>
            </a:r>
            <a:r>
              <a:rPr lang="ko-KR" altLang="en-US" dirty="0"/>
              <a:t> </a:t>
            </a:r>
            <a:r>
              <a:rPr lang="ko-KR" altLang="en-US" dirty="0" err="1"/>
              <a:t>로드밸런싱의</a:t>
            </a:r>
            <a:r>
              <a:rPr lang="ko-KR" altLang="en-US" dirty="0"/>
              <a:t> 테스트를 위한 최소한의 기능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 </a:t>
            </a:r>
            <a:r>
              <a:rPr lang="ko-KR" altLang="en-US" dirty="0"/>
              <a:t>기능</a:t>
            </a:r>
            <a:endParaRPr lang="en-US" altLang="ko-KR" dirty="0"/>
          </a:p>
          <a:p>
            <a:pPr marL="514350" indent="-514350">
              <a:buAutoNum type="arabicPeriod"/>
            </a:pPr>
            <a:r>
              <a:rPr lang="en-US" altLang="ko-KR" dirty="0"/>
              <a:t>Customer </a:t>
            </a:r>
            <a:r>
              <a:rPr lang="ko-KR" altLang="en-US" dirty="0"/>
              <a:t>등록 기능</a:t>
            </a:r>
            <a:endParaRPr lang="en-US" altLang="ko-KR" dirty="0"/>
          </a:p>
          <a:p>
            <a:pPr marL="514350" indent="-514350">
              <a:buAutoNum type="arabicPeriod"/>
            </a:pPr>
            <a:r>
              <a:rPr lang="en-US" altLang="ko-KR" dirty="0"/>
              <a:t>Customer </a:t>
            </a:r>
            <a:r>
              <a:rPr lang="ko-KR" altLang="en-US" dirty="0"/>
              <a:t>삭제 기능</a:t>
            </a:r>
            <a:endParaRPr lang="en-US" altLang="ko-KR" dirty="0"/>
          </a:p>
          <a:p>
            <a:pPr marL="514350" indent="-514350">
              <a:buAutoNum type="arabicPeriod"/>
            </a:pPr>
            <a:r>
              <a:rPr lang="en-US" altLang="ko-KR" dirty="0"/>
              <a:t>Customer</a:t>
            </a:r>
            <a:r>
              <a:rPr lang="ko-KR" altLang="en-US" dirty="0"/>
              <a:t> 이력 </a:t>
            </a:r>
            <a:r>
              <a:rPr lang="en-US" altLang="ko-KR" dirty="0"/>
              <a:t>All </a:t>
            </a:r>
            <a:r>
              <a:rPr lang="ko-KR" altLang="en-US" dirty="0"/>
              <a:t>조회 </a:t>
            </a:r>
            <a:endParaRPr lang="en-US" altLang="ko-KR" dirty="0"/>
          </a:p>
          <a:p>
            <a:pPr marL="514350" indent="-514350">
              <a:buAutoNum type="arabicPeriod"/>
            </a:pPr>
            <a:r>
              <a:rPr lang="en-US" altLang="ko-KR" dirty="0"/>
              <a:t>Customer </a:t>
            </a:r>
            <a:r>
              <a:rPr lang="ko-KR" altLang="en-US" dirty="0"/>
              <a:t>등록 시 </a:t>
            </a:r>
            <a:r>
              <a:rPr lang="en-US" altLang="ko-KR" dirty="0"/>
              <a:t>RabbitMQ</a:t>
            </a:r>
            <a:r>
              <a:rPr lang="ko-KR" altLang="en-US" dirty="0"/>
              <a:t>를 사용한 등록 메시지 알람</a:t>
            </a:r>
            <a:endParaRPr lang="en-US" altLang="ko-KR" dirty="0"/>
          </a:p>
          <a:p>
            <a:pPr marL="514350" indent="-514350">
              <a:buAutoNum type="arabicPeriod"/>
            </a:pPr>
            <a:r>
              <a:rPr lang="en-US" altLang="ko-KR" dirty="0"/>
              <a:t>Event RabbitMQ </a:t>
            </a:r>
            <a:r>
              <a:rPr lang="ko-KR" altLang="en-US" dirty="0"/>
              <a:t>단순</a:t>
            </a:r>
            <a:r>
              <a:rPr lang="en-US" altLang="ko-KR" dirty="0"/>
              <a:t> </a:t>
            </a:r>
            <a:r>
              <a:rPr lang="ko-KR" altLang="en-US" dirty="0"/>
              <a:t>메시지 보내기 기능</a:t>
            </a:r>
          </a:p>
        </p:txBody>
      </p:sp>
    </p:spTree>
    <p:extLst>
      <p:ext uri="{BB962C8B-B14F-4D97-AF65-F5344CB8AC3E}">
        <p14:creationId xmlns:p14="http://schemas.microsoft.com/office/powerpoint/2010/main" val="11110924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BFFF02-70C1-D0FA-0338-2BC622770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158820"/>
            <a:ext cx="8352854" cy="707886"/>
          </a:xfrm>
        </p:spPr>
        <p:txBody>
          <a:bodyPr/>
          <a:lstStyle/>
          <a:p>
            <a:r>
              <a:rPr lang="en-US" altLang="ko-KR" dirty="0"/>
              <a:t>RabbitMQ </a:t>
            </a:r>
            <a:r>
              <a:rPr lang="ko-KR" altLang="en-US" dirty="0"/>
              <a:t>사용하면서 발생했던 오류</a:t>
            </a:r>
          </a:p>
        </p:txBody>
      </p:sp>
      <p:pic>
        <p:nvPicPr>
          <p:cNvPr id="5" name="내용 개체 틀 4" descr="텍스트, 스크린샷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6A8E4F33-260A-A744-2BAD-BCB2A0E72D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1" y="1052736"/>
            <a:ext cx="6165980" cy="4392488"/>
          </a:xfrm>
        </p:spPr>
      </p:pic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F640BC2F-21E2-DD34-C86D-656C639BD0C7}"/>
              </a:ext>
            </a:extLst>
          </p:cNvPr>
          <p:cNvCxnSpPr>
            <a:cxnSpLocks/>
          </p:cNvCxnSpPr>
          <p:nvPr/>
        </p:nvCxnSpPr>
        <p:spPr>
          <a:xfrm>
            <a:off x="4211960" y="3573016"/>
            <a:ext cx="864096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</a:ln>
          <a:effectLst/>
        </p:spPr>
      </p:cxnSp>
    </p:spTree>
    <p:extLst>
      <p:ext uri="{BB962C8B-B14F-4D97-AF65-F5344CB8AC3E}">
        <p14:creationId xmlns:p14="http://schemas.microsoft.com/office/powerpoint/2010/main" val="27467712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611A19-474D-8B37-07D0-A1CADC808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User-service</a:t>
            </a:r>
            <a:endParaRPr lang="ko-KR" altLang="en-US" dirty="0"/>
          </a:p>
        </p:txBody>
      </p:sp>
      <p:pic>
        <p:nvPicPr>
          <p:cNvPr id="9" name="내용 개체 틀 8">
            <a:extLst>
              <a:ext uri="{FF2B5EF4-FFF2-40B4-BE49-F238E27FC236}">
                <a16:creationId xmlns:a16="http://schemas.microsoft.com/office/drawing/2014/main" id="{DFF27A9B-146B-293B-51C9-0190C80B40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28935"/>
          <a:stretch/>
        </p:blipFill>
        <p:spPr>
          <a:xfrm>
            <a:off x="19910" y="832841"/>
            <a:ext cx="2737101" cy="5272087"/>
          </a:xfr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13FFE56C-3B6A-257C-0A4F-A18B9A11E67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520" b="2563"/>
          <a:stretch/>
        </p:blipFill>
        <p:spPr>
          <a:xfrm>
            <a:off x="2880099" y="832841"/>
            <a:ext cx="6263901" cy="5999126"/>
          </a:xfrm>
          <a:prstGeom prst="rect">
            <a:avLst/>
          </a:prstGeom>
        </p:spPr>
      </p:pic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58815656-6CF2-11CA-08CC-DD0E7ECE21E0}"/>
              </a:ext>
            </a:extLst>
          </p:cNvPr>
          <p:cNvCxnSpPr/>
          <p:nvPr/>
        </p:nvCxnSpPr>
        <p:spPr>
          <a:xfrm>
            <a:off x="3275856" y="980728"/>
            <a:ext cx="936104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</a:ln>
          <a:effectLst/>
        </p:spPr>
      </p:cxnSp>
    </p:spTree>
    <p:extLst>
      <p:ext uri="{BB962C8B-B14F-4D97-AF65-F5344CB8AC3E}">
        <p14:creationId xmlns:p14="http://schemas.microsoft.com/office/powerpoint/2010/main" val="14506354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CAB3AD-8165-7450-9C94-847171220B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User-service</a:t>
            </a:r>
            <a:endParaRPr lang="ko-KR" altLang="en-US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9D847856-4C4F-B2E4-B35C-86350ABDBA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r="25555"/>
          <a:stretch/>
        </p:blipFill>
        <p:spPr>
          <a:xfrm>
            <a:off x="-123" y="887972"/>
            <a:ext cx="5004171" cy="4557252"/>
          </a:xfr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4C756E8F-21F0-4019-3E8A-CE75D012067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33442"/>
          <a:stretch/>
        </p:blipFill>
        <p:spPr>
          <a:xfrm>
            <a:off x="4104333" y="31211"/>
            <a:ext cx="5004171" cy="68580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A197150E-F8D6-D71A-6158-AF8DDD9398F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352" t="24080" r="9386" b="45822"/>
          <a:stretch/>
        </p:blipFill>
        <p:spPr>
          <a:xfrm>
            <a:off x="-123" y="6021288"/>
            <a:ext cx="4256766" cy="301318"/>
          </a:xfrm>
          <a:prstGeom prst="rect">
            <a:avLst/>
          </a:prstGeom>
        </p:spPr>
      </p:pic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904A8C57-B220-C115-98A6-8D4D46B81193}"/>
              </a:ext>
            </a:extLst>
          </p:cNvPr>
          <p:cNvCxnSpPr/>
          <p:nvPr/>
        </p:nvCxnSpPr>
        <p:spPr>
          <a:xfrm>
            <a:off x="5231767" y="188640"/>
            <a:ext cx="936104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</a:ln>
          <a:effectLst/>
        </p:spPr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1FA4533A-A24C-3BEF-FA33-EB846F551F92}"/>
              </a:ext>
            </a:extLst>
          </p:cNvPr>
          <p:cNvCxnSpPr>
            <a:cxnSpLocks/>
          </p:cNvCxnSpPr>
          <p:nvPr/>
        </p:nvCxnSpPr>
        <p:spPr>
          <a:xfrm>
            <a:off x="4932040" y="6093296"/>
            <a:ext cx="1512168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</a:ln>
          <a:effectLst/>
        </p:spPr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A7489137-FC4F-0569-4B40-86E6538069EC}"/>
              </a:ext>
            </a:extLst>
          </p:cNvPr>
          <p:cNvCxnSpPr/>
          <p:nvPr/>
        </p:nvCxnSpPr>
        <p:spPr>
          <a:xfrm>
            <a:off x="1403648" y="6278321"/>
            <a:ext cx="936104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</a:ln>
          <a:effectLst/>
        </p:spPr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86BA0D34-82C8-55DC-5AD1-62A533B780E0}"/>
              </a:ext>
            </a:extLst>
          </p:cNvPr>
          <p:cNvCxnSpPr>
            <a:cxnSpLocks/>
          </p:cNvCxnSpPr>
          <p:nvPr/>
        </p:nvCxnSpPr>
        <p:spPr>
          <a:xfrm>
            <a:off x="4644008" y="4077072"/>
            <a:ext cx="3168352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</a:ln>
          <a:effectLst/>
        </p:spPr>
      </p:cxnSp>
    </p:spTree>
    <p:extLst>
      <p:ext uri="{BB962C8B-B14F-4D97-AF65-F5344CB8AC3E}">
        <p14:creationId xmlns:p14="http://schemas.microsoft.com/office/powerpoint/2010/main" val="13700499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3C74A1-7965-EDC8-DC10-1673DA41D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Event-service</a:t>
            </a:r>
            <a:endParaRPr lang="ko-KR" altLang="en-US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C911F9DA-196C-A4DF-49CB-BB7A74B594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7504" y="1124744"/>
            <a:ext cx="3711810" cy="4750395"/>
          </a:xfr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FF9B89D-95F2-887C-521B-886AB1E6B3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6700" y="2420888"/>
            <a:ext cx="5467300" cy="324036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60E02D7-5236-DE20-BD2B-CD450E64AD3E}"/>
              </a:ext>
            </a:extLst>
          </p:cNvPr>
          <p:cNvSpPr txBox="1"/>
          <p:nvPr/>
        </p:nvSpPr>
        <p:spPr>
          <a:xfrm>
            <a:off x="4142098" y="1555153"/>
            <a:ext cx="45365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n-ea"/>
                <a:ea typeface="+mn-ea"/>
              </a:rPr>
              <a:t>RabbitMQ</a:t>
            </a:r>
            <a:r>
              <a:rPr lang="ko-KR" altLang="en-US" dirty="0">
                <a:latin typeface="+mn-ea"/>
                <a:ea typeface="+mn-ea"/>
              </a:rPr>
              <a:t>에 사용될 </a:t>
            </a:r>
            <a:r>
              <a:rPr lang="en-US" altLang="ko-KR" dirty="0">
                <a:latin typeface="+mn-ea"/>
                <a:ea typeface="+mn-ea"/>
              </a:rPr>
              <a:t>Queue</a:t>
            </a:r>
            <a:r>
              <a:rPr lang="ko-KR" altLang="en-US" dirty="0">
                <a:latin typeface="+mn-ea"/>
                <a:ea typeface="+mn-ea"/>
              </a:rPr>
              <a:t>를 생성해 보내는 위치</a:t>
            </a: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AB6BBAE2-B84C-DBBB-E4EB-6019DF17A1D2}"/>
              </a:ext>
            </a:extLst>
          </p:cNvPr>
          <p:cNvCxnSpPr/>
          <p:nvPr/>
        </p:nvCxnSpPr>
        <p:spPr>
          <a:xfrm>
            <a:off x="4860032" y="3573016"/>
            <a:ext cx="936104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</a:ln>
          <a:effectLst/>
        </p:spPr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5F1ABD41-CFA8-B468-0FBE-CEE14C407966}"/>
              </a:ext>
            </a:extLst>
          </p:cNvPr>
          <p:cNvCxnSpPr/>
          <p:nvPr/>
        </p:nvCxnSpPr>
        <p:spPr>
          <a:xfrm>
            <a:off x="4932040" y="4149080"/>
            <a:ext cx="936104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</a:ln>
          <a:effectLst/>
        </p:spPr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09DC8FB8-F377-9BF4-093E-EE01E2764EE8}"/>
              </a:ext>
            </a:extLst>
          </p:cNvPr>
          <p:cNvCxnSpPr>
            <a:cxnSpLocks/>
          </p:cNvCxnSpPr>
          <p:nvPr/>
        </p:nvCxnSpPr>
        <p:spPr>
          <a:xfrm>
            <a:off x="1763688" y="3717032"/>
            <a:ext cx="1152128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</a:ln>
          <a:effectLst/>
        </p:spPr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B50F1121-39BE-DB80-44B3-81C3F523134A}"/>
              </a:ext>
            </a:extLst>
          </p:cNvPr>
          <p:cNvCxnSpPr/>
          <p:nvPr/>
        </p:nvCxnSpPr>
        <p:spPr>
          <a:xfrm>
            <a:off x="1763688" y="4005064"/>
            <a:ext cx="936104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</a:ln>
          <a:effectLst/>
        </p:spPr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093B6AA1-732D-0133-79B5-0BFCC84EA21B}"/>
              </a:ext>
            </a:extLst>
          </p:cNvPr>
          <p:cNvCxnSpPr>
            <a:cxnSpLocks/>
          </p:cNvCxnSpPr>
          <p:nvPr/>
        </p:nvCxnSpPr>
        <p:spPr>
          <a:xfrm>
            <a:off x="1763688" y="4509120"/>
            <a:ext cx="1296144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</a:ln>
          <a:effectLst/>
        </p:spPr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F6FF0F16-B6C6-D2B5-860C-4CA7DCDABBA9}"/>
              </a:ext>
            </a:extLst>
          </p:cNvPr>
          <p:cNvCxnSpPr>
            <a:cxnSpLocks/>
          </p:cNvCxnSpPr>
          <p:nvPr/>
        </p:nvCxnSpPr>
        <p:spPr>
          <a:xfrm>
            <a:off x="1763688" y="5013176"/>
            <a:ext cx="1656184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</a:ln>
          <a:effectLst/>
        </p:spPr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074EC109-54FE-A1FD-AEE7-A7F884BF36F3}"/>
              </a:ext>
            </a:extLst>
          </p:cNvPr>
          <p:cNvCxnSpPr>
            <a:cxnSpLocks/>
          </p:cNvCxnSpPr>
          <p:nvPr/>
        </p:nvCxnSpPr>
        <p:spPr>
          <a:xfrm>
            <a:off x="1763688" y="5517232"/>
            <a:ext cx="1656184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</a:ln>
          <a:effectLst/>
        </p:spPr>
      </p:cxnSp>
    </p:spTree>
    <p:extLst>
      <p:ext uri="{BB962C8B-B14F-4D97-AF65-F5344CB8AC3E}">
        <p14:creationId xmlns:p14="http://schemas.microsoft.com/office/powerpoint/2010/main" val="35914295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3A1A10-359D-0CBD-CD69-64B7F163F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Event-service</a:t>
            </a:r>
            <a:endParaRPr lang="ko-KR" altLang="en-US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95DCE5E2-DB5A-FC64-E5E5-2A8A636220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r="2686" b="10757"/>
          <a:stretch/>
        </p:blipFill>
        <p:spPr>
          <a:xfrm>
            <a:off x="107504" y="980728"/>
            <a:ext cx="7776864" cy="3642414"/>
          </a:xfr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898441DB-B7D1-DC33-F2BC-FDBC0F1712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8144" y="4293096"/>
            <a:ext cx="2865711" cy="250848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A7B7518-EA04-BC56-755C-99C811C19873}"/>
              </a:ext>
            </a:extLst>
          </p:cNvPr>
          <p:cNvSpPr txBox="1"/>
          <p:nvPr/>
        </p:nvSpPr>
        <p:spPr>
          <a:xfrm>
            <a:off x="539552" y="5131841"/>
            <a:ext cx="48965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+mn-ea"/>
                <a:ea typeface="+mn-ea"/>
              </a:rPr>
              <a:t>기능 </a:t>
            </a:r>
            <a:r>
              <a:rPr lang="en-US" altLang="ko-KR" dirty="0">
                <a:latin typeface="+mn-ea"/>
                <a:ea typeface="+mn-ea"/>
              </a:rPr>
              <a:t>5 </a:t>
            </a:r>
            <a:r>
              <a:rPr lang="ko-KR" altLang="en-US" dirty="0">
                <a:latin typeface="+mn-ea"/>
                <a:ea typeface="+mn-ea"/>
              </a:rPr>
              <a:t> 사용될 메시지 큐 객체</a:t>
            </a: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E6172DF7-694B-B671-821A-54343C8AB7A1}"/>
              </a:ext>
            </a:extLst>
          </p:cNvPr>
          <p:cNvCxnSpPr>
            <a:cxnSpLocks/>
          </p:cNvCxnSpPr>
          <p:nvPr/>
        </p:nvCxnSpPr>
        <p:spPr>
          <a:xfrm>
            <a:off x="539552" y="2132856"/>
            <a:ext cx="2880320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</a:ln>
          <a:effectLst/>
        </p:spPr>
      </p:cxnSp>
    </p:spTree>
    <p:extLst>
      <p:ext uri="{BB962C8B-B14F-4D97-AF65-F5344CB8AC3E}">
        <p14:creationId xmlns:p14="http://schemas.microsoft.com/office/powerpoint/2010/main" val="15644333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1AFD6C-1E3A-EBAA-2BC1-8811825C5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MongoDB</a:t>
            </a:r>
            <a:r>
              <a:rPr lang="ko-KR" altLang="en-US" dirty="0"/>
              <a:t>에 저장된 내용</a:t>
            </a: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F360BB5C-D1CE-9953-3425-90DA874A7A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7544" y="980728"/>
            <a:ext cx="5904656" cy="5818800"/>
          </a:xfrm>
        </p:spPr>
      </p:pic>
    </p:spTree>
    <p:extLst>
      <p:ext uri="{BB962C8B-B14F-4D97-AF65-F5344CB8AC3E}">
        <p14:creationId xmlns:p14="http://schemas.microsoft.com/office/powerpoint/2010/main" val="36149311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105BD7-B33E-872B-1CA8-1954E374E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각 기능의 테스트 결과</a:t>
            </a: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8BC5ED6B-E16A-019A-DC31-92522C1864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34473"/>
          <a:stretch/>
        </p:blipFill>
        <p:spPr>
          <a:xfrm>
            <a:off x="34260" y="1662136"/>
            <a:ext cx="9050074" cy="1498286"/>
          </a:xfr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FD597DC-2E70-A9C7-D23B-34741C70CC6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7806"/>
          <a:stretch/>
        </p:blipFill>
        <p:spPr>
          <a:xfrm>
            <a:off x="-1" y="3745549"/>
            <a:ext cx="9144000" cy="835944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E5992862-38EA-D741-DA1F-1C051659F00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-10322" r="35907"/>
          <a:stretch/>
        </p:blipFill>
        <p:spPr>
          <a:xfrm>
            <a:off x="59665" y="5422597"/>
            <a:ext cx="9024669" cy="118517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FDD66FD-68E3-1845-22DF-1BFC8B9733D5}"/>
              </a:ext>
            </a:extLst>
          </p:cNvPr>
          <p:cNvSpPr txBox="1"/>
          <p:nvPr/>
        </p:nvSpPr>
        <p:spPr>
          <a:xfrm>
            <a:off x="611560" y="1021710"/>
            <a:ext cx="48965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+mn-ea"/>
                <a:ea typeface="+mn-ea"/>
              </a:rPr>
              <a:t>기능 </a:t>
            </a:r>
            <a:r>
              <a:rPr lang="en-US" altLang="ko-KR" dirty="0">
                <a:latin typeface="+mn-ea"/>
                <a:ea typeface="+mn-ea"/>
              </a:rPr>
              <a:t>1 Customer </a:t>
            </a:r>
            <a:r>
              <a:rPr lang="ko-KR" altLang="en-US" dirty="0">
                <a:latin typeface="+mn-ea"/>
                <a:ea typeface="+mn-ea"/>
              </a:rPr>
              <a:t>등록 기능</a:t>
            </a: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44A4B025-BFD0-9932-F502-150DFFDD4BD5}"/>
              </a:ext>
            </a:extLst>
          </p:cNvPr>
          <p:cNvCxnSpPr>
            <a:cxnSpLocks/>
          </p:cNvCxnSpPr>
          <p:nvPr/>
        </p:nvCxnSpPr>
        <p:spPr>
          <a:xfrm>
            <a:off x="3983233" y="4545937"/>
            <a:ext cx="1152128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</a:ln>
          <a:effectLst/>
        </p:spPr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51A690A-9021-E54C-E0EB-9CEDF40C3826}"/>
              </a:ext>
            </a:extLst>
          </p:cNvPr>
          <p:cNvSpPr txBox="1"/>
          <p:nvPr/>
        </p:nvSpPr>
        <p:spPr>
          <a:xfrm>
            <a:off x="59664" y="1672959"/>
            <a:ext cx="7608679" cy="14874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07EA5F9-3CF6-5D00-6532-12BB2F74380E}"/>
              </a:ext>
            </a:extLst>
          </p:cNvPr>
          <p:cNvSpPr txBox="1"/>
          <p:nvPr/>
        </p:nvSpPr>
        <p:spPr>
          <a:xfrm>
            <a:off x="246326" y="5973299"/>
            <a:ext cx="9024669" cy="5760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74B56FC-BD8F-90E4-C8C3-688AE846E682}"/>
              </a:ext>
            </a:extLst>
          </p:cNvPr>
          <p:cNvSpPr txBox="1"/>
          <p:nvPr/>
        </p:nvSpPr>
        <p:spPr>
          <a:xfrm>
            <a:off x="272355" y="3198167"/>
            <a:ext cx="48965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+mn-ea"/>
                <a:ea typeface="+mn-ea"/>
              </a:rPr>
              <a:t>기능 </a:t>
            </a:r>
            <a:r>
              <a:rPr lang="en-US" altLang="ko-KR" dirty="0">
                <a:latin typeface="+mn-ea"/>
                <a:ea typeface="+mn-ea"/>
              </a:rPr>
              <a:t>2 Customer </a:t>
            </a:r>
            <a:r>
              <a:rPr lang="ko-KR" altLang="en-US" dirty="0">
                <a:latin typeface="+mn-ea"/>
                <a:ea typeface="+mn-ea"/>
              </a:rPr>
              <a:t>조회 기능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1F8DC43-7A81-3F80-5504-7D1ED95FBDBA}"/>
              </a:ext>
            </a:extLst>
          </p:cNvPr>
          <p:cNvSpPr txBox="1"/>
          <p:nvPr/>
        </p:nvSpPr>
        <p:spPr>
          <a:xfrm>
            <a:off x="395536" y="4765572"/>
            <a:ext cx="48965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+mn-ea"/>
                <a:ea typeface="+mn-ea"/>
              </a:rPr>
              <a:t>기능 </a:t>
            </a:r>
            <a:r>
              <a:rPr lang="en-US" altLang="ko-KR" dirty="0">
                <a:latin typeface="+mn-ea"/>
                <a:ea typeface="+mn-ea"/>
              </a:rPr>
              <a:t>3 Customer </a:t>
            </a:r>
            <a:r>
              <a:rPr lang="ko-KR" altLang="en-US" dirty="0">
                <a:latin typeface="+mn-ea"/>
                <a:ea typeface="+mn-ea"/>
              </a:rPr>
              <a:t>삭제 기능</a:t>
            </a:r>
          </a:p>
        </p:txBody>
      </p:sp>
    </p:spTree>
    <p:extLst>
      <p:ext uri="{BB962C8B-B14F-4D97-AF65-F5344CB8AC3E}">
        <p14:creationId xmlns:p14="http://schemas.microsoft.com/office/powerpoint/2010/main" val="27178349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FD50A1-BAB0-EFD9-BBF1-74CB7A90D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각 기능의 테스트 결과</a:t>
            </a: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00AF4546-5591-9569-EB31-D8430D579F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968" y="1673938"/>
            <a:ext cx="7991475" cy="805451"/>
          </a:xfrm>
        </p:spPr>
      </p:pic>
      <p:pic>
        <p:nvPicPr>
          <p:cNvPr id="7" name="그림 6" descr="텍스트, 폰트, 스크린샷, 번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C587CF06-77B7-68BC-1BE2-8F7DB1ECD5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121" y="4731581"/>
            <a:ext cx="3072106" cy="452481"/>
          </a:xfrm>
          <a:prstGeom prst="rect">
            <a:avLst/>
          </a:prstGeom>
        </p:spPr>
      </p:pic>
      <p:pic>
        <p:nvPicPr>
          <p:cNvPr id="9" name="그림 8" descr="텍스트, 스크린샷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29D68F85-A861-D135-9B7C-2BB251B32A8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968" y="3429000"/>
            <a:ext cx="7644542" cy="96846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B1D5CD1-A428-FEE6-8B04-E9290A6FC69C}"/>
              </a:ext>
            </a:extLst>
          </p:cNvPr>
          <p:cNvSpPr txBox="1"/>
          <p:nvPr/>
        </p:nvSpPr>
        <p:spPr>
          <a:xfrm>
            <a:off x="359916" y="1055354"/>
            <a:ext cx="89289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+mn-ea"/>
                <a:ea typeface="+mn-ea"/>
              </a:rPr>
              <a:t>기능 </a:t>
            </a:r>
            <a:r>
              <a:rPr lang="en-US" altLang="ko-KR" dirty="0">
                <a:latin typeface="+mn-ea"/>
                <a:ea typeface="+mn-ea"/>
              </a:rPr>
              <a:t>4 Customer </a:t>
            </a:r>
            <a:r>
              <a:rPr lang="ko-KR" altLang="en-US" dirty="0">
                <a:latin typeface="+mn-ea"/>
                <a:ea typeface="+mn-ea"/>
              </a:rPr>
              <a:t>등록 시 발생하는 메시지 전송 </a:t>
            </a:r>
            <a:r>
              <a:rPr lang="en-US" altLang="ko-KR" dirty="0">
                <a:latin typeface="+mn-ea"/>
                <a:ea typeface="+mn-ea"/>
              </a:rPr>
              <a:t>RabbitMQ </a:t>
            </a:r>
            <a:r>
              <a:rPr lang="ko-KR" altLang="en-US" dirty="0">
                <a:latin typeface="+mn-ea"/>
                <a:ea typeface="+mn-ea"/>
              </a:rPr>
              <a:t>기능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7A40BE-8586-3FDA-3253-889AA79ACD72}"/>
              </a:ext>
            </a:extLst>
          </p:cNvPr>
          <p:cNvSpPr txBox="1"/>
          <p:nvPr/>
        </p:nvSpPr>
        <p:spPr>
          <a:xfrm>
            <a:off x="359916" y="2798482"/>
            <a:ext cx="92890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+mn-ea"/>
                <a:ea typeface="+mn-ea"/>
              </a:rPr>
              <a:t>기능 </a:t>
            </a:r>
            <a:r>
              <a:rPr lang="en-US" altLang="ko-KR" dirty="0">
                <a:latin typeface="+mn-ea"/>
                <a:ea typeface="+mn-ea"/>
              </a:rPr>
              <a:t>5 </a:t>
            </a:r>
            <a:r>
              <a:rPr lang="ko-KR" altLang="en-US" dirty="0">
                <a:latin typeface="+mn-ea"/>
                <a:ea typeface="+mn-ea"/>
              </a:rPr>
              <a:t>간단한</a:t>
            </a:r>
            <a:r>
              <a:rPr lang="en-US" altLang="ko-KR" dirty="0">
                <a:latin typeface="+mn-ea"/>
                <a:ea typeface="+mn-ea"/>
              </a:rPr>
              <a:t> </a:t>
            </a:r>
            <a:r>
              <a:rPr lang="ko-KR" altLang="en-US" dirty="0">
                <a:latin typeface="+mn-ea"/>
                <a:ea typeface="+mn-ea"/>
              </a:rPr>
              <a:t>메시지 전송 </a:t>
            </a:r>
            <a:r>
              <a:rPr lang="en-US" altLang="ko-KR" dirty="0">
                <a:latin typeface="+mn-ea"/>
                <a:ea typeface="+mn-ea"/>
              </a:rPr>
              <a:t>RabbitMQ </a:t>
            </a:r>
            <a:r>
              <a:rPr lang="ko-KR" altLang="en-US" dirty="0">
                <a:latin typeface="+mn-ea"/>
                <a:ea typeface="+mn-ea"/>
              </a:rPr>
              <a:t>기능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E5B89D3-05A0-2278-0FA4-E904A88A2FF5}"/>
              </a:ext>
            </a:extLst>
          </p:cNvPr>
          <p:cNvSpPr txBox="1"/>
          <p:nvPr/>
        </p:nvSpPr>
        <p:spPr>
          <a:xfrm>
            <a:off x="624279" y="4155517"/>
            <a:ext cx="3587682" cy="24195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A579AB1-9B1B-1468-E789-ECF4276594A5}"/>
              </a:ext>
            </a:extLst>
          </p:cNvPr>
          <p:cNvSpPr txBox="1"/>
          <p:nvPr/>
        </p:nvSpPr>
        <p:spPr>
          <a:xfrm>
            <a:off x="1935386" y="3868096"/>
            <a:ext cx="1700510" cy="24195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940957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D1F30D-5546-6585-F707-8A837D9B7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K8S </a:t>
            </a:r>
            <a:r>
              <a:rPr lang="ko-KR" altLang="en-US" dirty="0"/>
              <a:t>의 구성내용</a:t>
            </a:r>
          </a:p>
        </p:txBody>
      </p:sp>
      <p:pic>
        <p:nvPicPr>
          <p:cNvPr id="5" name="내용 개체 틀 4" descr="텍스트, 스크린샷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4A15E47E-0A3C-1FA5-2587-E23272C404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8267"/>
          <a:stretch/>
        </p:blipFill>
        <p:spPr>
          <a:xfrm>
            <a:off x="5708453" y="404664"/>
            <a:ext cx="3168279" cy="403244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7610868-A36B-29F4-578C-E99E045AD87D}"/>
              </a:ext>
            </a:extLst>
          </p:cNvPr>
          <p:cNvSpPr txBox="1"/>
          <p:nvPr/>
        </p:nvSpPr>
        <p:spPr>
          <a:xfrm>
            <a:off x="539552" y="1157353"/>
            <a:ext cx="5976664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>
                <a:latin typeface="+mn-ea"/>
                <a:ea typeface="+mn-ea"/>
              </a:rPr>
              <a:t>Deployment.yaml</a:t>
            </a:r>
            <a:r>
              <a:rPr lang="en-US" altLang="ko-KR" dirty="0">
                <a:latin typeface="+mn-ea"/>
                <a:ea typeface="+mn-ea"/>
              </a:rPr>
              <a:t>,</a:t>
            </a:r>
            <a:r>
              <a:rPr lang="ko-KR" altLang="en-US" dirty="0">
                <a:latin typeface="+mn-ea"/>
                <a:ea typeface="+mn-ea"/>
              </a:rPr>
              <a:t> </a:t>
            </a:r>
            <a:r>
              <a:rPr lang="en-US" altLang="ko-KR" dirty="0" err="1">
                <a:latin typeface="+mn-ea"/>
                <a:ea typeface="+mn-ea"/>
              </a:rPr>
              <a:t>service.yaml</a:t>
            </a:r>
            <a:endParaRPr lang="en-US" altLang="ko-KR" dirty="0">
              <a:latin typeface="+mn-ea"/>
              <a:ea typeface="+mn-ea"/>
            </a:endParaRPr>
          </a:p>
          <a:p>
            <a:r>
              <a:rPr lang="en-US" altLang="ko-KR" dirty="0" err="1">
                <a:latin typeface="+mn-ea"/>
                <a:ea typeface="+mn-ea"/>
              </a:rPr>
              <a:t>pv.yaml</a:t>
            </a:r>
            <a:r>
              <a:rPr lang="en-US" altLang="ko-KR" dirty="0">
                <a:latin typeface="+mn-ea"/>
                <a:ea typeface="+mn-ea"/>
              </a:rPr>
              <a:t>, </a:t>
            </a:r>
            <a:r>
              <a:rPr lang="en-US" altLang="ko-KR" dirty="0" err="1">
                <a:latin typeface="+mn-ea"/>
                <a:ea typeface="+mn-ea"/>
              </a:rPr>
              <a:t>pvc.yaml</a:t>
            </a:r>
            <a:r>
              <a:rPr lang="en-US" altLang="ko-KR" dirty="0">
                <a:latin typeface="+mn-ea"/>
                <a:ea typeface="+mn-ea"/>
              </a:rPr>
              <a:t> </a:t>
            </a:r>
            <a:r>
              <a:rPr lang="ko-KR" altLang="en-US" dirty="0">
                <a:latin typeface="+mn-ea"/>
                <a:ea typeface="+mn-ea"/>
              </a:rPr>
              <a:t>로 구성되어 있음</a:t>
            </a:r>
            <a:endParaRPr lang="en-US" altLang="ko-KR" dirty="0">
              <a:latin typeface="+mn-ea"/>
              <a:ea typeface="+mn-ea"/>
            </a:endParaRPr>
          </a:p>
          <a:p>
            <a:endParaRPr lang="en-US" altLang="ko-KR" dirty="0">
              <a:latin typeface="+mn-ea"/>
              <a:ea typeface="+mn-ea"/>
            </a:endParaRPr>
          </a:p>
          <a:p>
            <a:endParaRPr lang="en-US" altLang="ko-KR" dirty="0">
              <a:latin typeface="+mn-ea"/>
              <a:ea typeface="+mn-ea"/>
            </a:endParaRPr>
          </a:p>
          <a:p>
            <a:endParaRPr lang="en-US" altLang="ko-KR" dirty="0">
              <a:latin typeface="+mn-ea"/>
              <a:ea typeface="+mn-ea"/>
            </a:endParaRPr>
          </a:p>
          <a:p>
            <a:endParaRPr lang="en-US" altLang="ko-KR" dirty="0">
              <a:latin typeface="+mn-ea"/>
              <a:ea typeface="+mn-ea"/>
            </a:endParaRPr>
          </a:p>
          <a:p>
            <a:endParaRPr lang="en-US" altLang="ko-KR" dirty="0">
              <a:latin typeface="+mn-ea"/>
              <a:ea typeface="+mn-ea"/>
            </a:endParaRPr>
          </a:p>
          <a:p>
            <a:r>
              <a:rPr lang="ko-KR" altLang="en-US" dirty="0">
                <a:latin typeface="+mn-ea"/>
                <a:ea typeface="+mn-ea"/>
              </a:rPr>
              <a:t>앞으로 </a:t>
            </a:r>
            <a:r>
              <a:rPr lang="ko-KR" altLang="en-US" dirty="0" err="1">
                <a:latin typeface="+mn-ea"/>
                <a:ea typeface="+mn-ea"/>
              </a:rPr>
              <a:t>해야할</a:t>
            </a:r>
            <a:r>
              <a:rPr lang="ko-KR" altLang="en-US" dirty="0">
                <a:latin typeface="+mn-ea"/>
                <a:ea typeface="+mn-ea"/>
              </a:rPr>
              <a:t> 일</a:t>
            </a:r>
            <a:endParaRPr lang="en-US" altLang="ko-KR" dirty="0">
              <a:latin typeface="+mn-ea"/>
              <a:ea typeface="+mn-ea"/>
            </a:endParaRPr>
          </a:p>
          <a:p>
            <a:endParaRPr lang="en-US" altLang="ko-KR" dirty="0">
              <a:latin typeface="+mn-ea"/>
              <a:ea typeface="+mn-ea"/>
            </a:endParaRPr>
          </a:p>
          <a:p>
            <a:r>
              <a:rPr lang="ko-KR" altLang="en-US" dirty="0">
                <a:latin typeface="+mn-ea"/>
                <a:ea typeface="+mn-ea"/>
              </a:rPr>
              <a:t>추가적으로 </a:t>
            </a:r>
            <a:r>
              <a:rPr lang="en-US" altLang="ko-KR" dirty="0">
                <a:solidFill>
                  <a:srgbClr val="FF0000"/>
                </a:solidFill>
                <a:latin typeface="+mn-ea"/>
                <a:ea typeface="+mn-ea"/>
              </a:rPr>
              <a:t>Eureka-server</a:t>
            </a:r>
            <a:r>
              <a:rPr lang="en-US" altLang="ko-KR" dirty="0">
                <a:latin typeface="+mn-ea"/>
                <a:ea typeface="+mn-ea"/>
              </a:rPr>
              <a:t>, </a:t>
            </a:r>
            <a:r>
              <a:rPr lang="en-US" altLang="ko-KR" dirty="0">
                <a:solidFill>
                  <a:srgbClr val="FF0000"/>
                </a:solidFill>
                <a:latin typeface="+mn-ea"/>
                <a:ea typeface="+mn-ea"/>
              </a:rPr>
              <a:t>Edge-server</a:t>
            </a:r>
            <a:r>
              <a:rPr lang="en-US" altLang="ko-KR" dirty="0">
                <a:latin typeface="+mn-ea"/>
                <a:ea typeface="+mn-ea"/>
              </a:rPr>
              <a:t>, </a:t>
            </a:r>
            <a:r>
              <a:rPr lang="en-US" altLang="ko-KR" dirty="0">
                <a:solidFill>
                  <a:srgbClr val="FF0000"/>
                </a:solidFill>
                <a:latin typeface="+mn-ea"/>
                <a:ea typeface="+mn-ea"/>
              </a:rPr>
              <a:t>Config-server</a:t>
            </a:r>
            <a:r>
              <a:rPr lang="en-US" altLang="ko-KR" dirty="0">
                <a:latin typeface="+mn-ea"/>
                <a:ea typeface="+mn-ea"/>
              </a:rPr>
              <a:t> </a:t>
            </a:r>
            <a:r>
              <a:rPr lang="ko-KR" altLang="en-US" dirty="0">
                <a:latin typeface="+mn-ea"/>
                <a:ea typeface="+mn-ea"/>
              </a:rPr>
              <a:t>들의 </a:t>
            </a:r>
            <a:r>
              <a:rPr lang="en-US" altLang="ko-KR" dirty="0">
                <a:latin typeface="+mn-ea"/>
                <a:ea typeface="+mn-ea"/>
              </a:rPr>
              <a:t>Deployment </a:t>
            </a:r>
            <a:r>
              <a:rPr lang="ko-KR" altLang="en-US" dirty="0">
                <a:latin typeface="+mn-ea"/>
                <a:ea typeface="+mn-ea"/>
              </a:rPr>
              <a:t>배치도 해야함</a:t>
            </a:r>
            <a:endParaRPr lang="en-US" altLang="ko-KR" dirty="0">
              <a:latin typeface="+mn-ea"/>
              <a:ea typeface="+mn-ea"/>
            </a:endParaRPr>
          </a:p>
          <a:p>
            <a:endParaRPr lang="en-US" altLang="ko-KR" dirty="0">
              <a:latin typeface="+mn-ea"/>
              <a:ea typeface="+mn-ea"/>
            </a:endParaRPr>
          </a:p>
          <a:p>
            <a:r>
              <a:rPr lang="en-US" altLang="ko-KR" dirty="0">
                <a:latin typeface="+mn-ea"/>
                <a:ea typeface="+mn-ea"/>
              </a:rPr>
              <a:t>HPA </a:t>
            </a:r>
            <a:r>
              <a:rPr lang="ko-KR" altLang="en-US" dirty="0">
                <a:latin typeface="+mn-ea"/>
                <a:ea typeface="+mn-ea"/>
              </a:rPr>
              <a:t>설정 및 </a:t>
            </a:r>
            <a:r>
              <a:rPr lang="en-US" altLang="ko-KR" dirty="0">
                <a:latin typeface="+mn-ea"/>
                <a:ea typeface="+mn-ea"/>
              </a:rPr>
              <a:t>KEDA</a:t>
            </a:r>
            <a:r>
              <a:rPr lang="ko-KR" altLang="en-US" dirty="0">
                <a:latin typeface="+mn-ea"/>
                <a:ea typeface="+mn-ea"/>
              </a:rPr>
              <a:t>의 설정 그리고 테스트</a:t>
            </a:r>
            <a:endParaRPr lang="en-US" altLang="ko-KR" dirty="0">
              <a:latin typeface="+mn-ea"/>
              <a:ea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9DB8C5-E9CD-F88C-5A90-965239FFE5D0}"/>
              </a:ext>
            </a:extLst>
          </p:cNvPr>
          <p:cNvSpPr txBox="1"/>
          <p:nvPr/>
        </p:nvSpPr>
        <p:spPr>
          <a:xfrm>
            <a:off x="6125219" y="1340768"/>
            <a:ext cx="2479230" cy="122413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90C9D5-1A44-1E29-644C-20BF10E2D034}"/>
              </a:ext>
            </a:extLst>
          </p:cNvPr>
          <p:cNvSpPr txBox="1"/>
          <p:nvPr/>
        </p:nvSpPr>
        <p:spPr>
          <a:xfrm>
            <a:off x="6156176" y="2636912"/>
            <a:ext cx="2592288" cy="115212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E64D46-B007-C4EC-02E0-96089FA6B4D9}"/>
              </a:ext>
            </a:extLst>
          </p:cNvPr>
          <p:cNvSpPr txBox="1"/>
          <p:nvPr/>
        </p:nvSpPr>
        <p:spPr>
          <a:xfrm>
            <a:off x="6157113" y="3759046"/>
            <a:ext cx="2591351" cy="67806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549694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29BC156B-0E81-1D27-F0EC-7911B9D2A46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008" b="898"/>
          <a:stretch/>
        </p:blipFill>
        <p:spPr>
          <a:xfrm>
            <a:off x="3851920" y="692696"/>
            <a:ext cx="5292080" cy="6165304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28166A3E-528B-47EE-8599-BB9953C07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논문의 진행 상황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28D1C48-1836-8476-5823-121B83126F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908720"/>
            <a:ext cx="8640961" cy="4248472"/>
          </a:xfrm>
        </p:spPr>
        <p:txBody>
          <a:bodyPr>
            <a:normAutofit/>
          </a:bodyPr>
          <a:lstStyle/>
          <a:p>
            <a:endParaRPr lang="en-US" altLang="ko-KR" dirty="0"/>
          </a:p>
          <a:p>
            <a:r>
              <a:rPr lang="en-US" altLang="ko-KR" dirty="0"/>
              <a:t> </a:t>
            </a:r>
            <a:r>
              <a:rPr lang="ko-KR" altLang="en-US" dirty="0"/>
              <a:t>논문 제목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sz="2000" b="1" kern="100" dirty="0">
                <a:latin typeface="맑은 고딕" panose="020B0503020000020004" pitchFamily="50" charset="-127"/>
                <a:ea typeface="신명조"/>
                <a:cs typeface="Times New Roman" panose="02020603050405020304" pitchFamily="18" charset="0"/>
              </a:rPr>
              <a:t>제목</a:t>
            </a:r>
            <a:r>
              <a:rPr lang="en-US" altLang="ko-KR" sz="2000" b="1" kern="100" dirty="0">
                <a:latin typeface="맑은 고딕" panose="020B0503020000020004" pitchFamily="50" charset="-127"/>
                <a:ea typeface="신명조"/>
                <a:cs typeface="Times New Roman" panose="02020603050405020304" pitchFamily="18" charset="0"/>
              </a:rPr>
              <a:t>: </a:t>
            </a:r>
            <a:r>
              <a:rPr lang="ko-KR" altLang="ko-KR" sz="2000" b="1" kern="100" dirty="0" err="1">
                <a:effectLst/>
                <a:latin typeface="맑은 고딕" panose="020B0503020000020004" pitchFamily="50" charset="-127"/>
                <a:ea typeface="신명조"/>
                <a:cs typeface="Times New Roman" panose="02020603050405020304" pitchFamily="18" charset="0"/>
              </a:rPr>
              <a:t>쿠버네티스</a:t>
            </a:r>
            <a:r>
              <a:rPr lang="ko-KR" altLang="ko-KR" sz="2000" b="1" kern="100" dirty="0">
                <a:effectLst/>
                <a:latin typeface="맑은 고딕" panose="020B0503020000020004" pitchFamily="50" charset="-127"/>
                <a:ea typeface="신명조"/>
                <a:cs typeface="Times New Roman" panose="02020603050405020304" pitchFamily="18" charset="0"/>
              </a:rPr>
              <a:t> 기반 스프링</a:t>
            </a:r>
            <a:endParaRPr lang="en-US" altLang="ko-KR" sz="2000" b="1" kern="100" dirty="0">
              <a:effectLst/>
              <a:latin typeface="맑은 고딕" panose="020B0503020000020004" pitchFamily="50" charset="-127"/>
              <a:ea typeface="신명조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ko-KR" altLang="ko-KR" sz="2000" b="1" kern="100" dirty="0">
                <a:effectLst/>
                <a:latin typeface="맑은 고딕" panose="020B0503020000020004" pitchFamily="50" charset="-127"/>
                <a:ea typeface="신명조"/>
                <a:cs typeface="Times New Roman" panose="02020603050405020304" pitchFamily="18" charset="0"/>
              </a:rPr>
              <a:t>클라우드 </a:t>
            </a:r>
            <a:r>
              <a:rPr lang="ko-KR" altLang="ko-KR" sz="2000" b="1" kern="100" dirty="0" err="1">
                <a:effectLst/>
                <a:latin typeface="맑은 고딕" panose="020B0503020000020004" pitchFamily="50" charset="-127"/>
                <a:ea typeface="신명조"/>
                <a:cs typeface="Times New Roman" panose="02020603050405020304" pitchFamily="18" charset="0"/>
              </a:rPr>
              <a:t>마이크로서비스</a:t>
            </a:r>
            <a:r>
              <a:rPr lang="ko-KR" altLang="ko-KR" sz="2000" b="1" kern="100" dirty="0">
                <a:effectLst/>
                <a:latin typeface="맑은 고딕" panose="020B0503020000020004" pitchFamily="50" charset="-127"/>
                <a:ea typeface="신명조"/>
                <a:cs typeface="Times New Roman" panose="02020603050405020304" pitchFamily="18" charset="0"/>
              </a:rPr>
              <a:t> </a:t>
            </a:r>
            <a:endParaRPr lang="en-US" altLang="ko-KR" sz="2000" b="1" kern="100" dirty="0">
              <a:effectLst/>
              <a:latin typeface="맑은 고딕" panose="020B0503020000020004" pitchFamily="50" charset="-127"/>
              <a:ea typeface="신명조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ko-KR" altLang="ko-KR" sz="2000" b="1" kern="100" dirty="0">
                <a:effectLst/>
                <a:latin typeface="맑은 고딕" panose="020B0503020000020004" pitchFamily="50" charset="-127"/>
                <a:ea typeface="신명조"/>
                <a:cs typeface="Times New Roman" panose="02020603050405020304" pitchFamily="18" charset="0"/>
              </a:rPr>
              <a:t>아키텍처의 설계 및 구현</a:t>
            </a:r>
            <a:endParaRPr lang="ko-KR" altLang="ko-KR" sz="2000" b="1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414584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1148528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Theme">
  <a:themeElements>
    <a:clrScheme name="실사대비 보고자료 8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3399FF"/>
      </a:hlink>
      <a:folHlink>
        <a:srgbClr val="B2B2B2"/>
      </a:folHlink>
    </a:clrScheme>
    <a:fontScheme name="실사대비 보고자료">
      <a:majorFont>
        <a:latin typeface="HY헤드라인M"/>
        <a:ea typeface="HY헤드라인M"/>
        <a:cs typeface=""/>
      </a:majorFont>
      <a:minorFont>
        <a:latin typeface="HY헤드라인M"/>
        <a:ea typeface="HY헤드라인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28575" cap="flat" cmpd="sng" algn="ctr">
          <a:solidFill>
            <a:schemeClr val="tx1"/>
          </a:solidFill>
          <a:prstDash val="solid"/>
          <a:round/>
        </a:ln>
        <a:effectLst/>
      </a:spPr>
      <a:bodyPr vert="horz" wrap="none" lIns="91440" tIns="45720" rIns="91440" bIns="45720" numCol="1" rtlCol="0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None/>
          <a:defRPr kumimoji="1" sz="2400" b="0" i="0" u="none" strike="noStrike" cap="none" normalizeH="0" baseline="0" smtClean="0">
            <a:ln>
              <a:noFill/>
            </a:ln>
            <a:solidFill>
              <a:schemeClr val="tx1"/>
            </a:solidFill>
            <a:latin typeface="Times New Roman"/>
            <a:ea typeface="굴림"/>
          </a:defRPr>
        </a:defPPr>
      </a:lstStyle>
    </a:spDef>
    <a:lnDef>
      <a:spPr>
        <a:solidFill>
          <a:schemeClr val="accent1"/>
        </a:solidFill>
        <a:ln w="28575" cap="flat" cmpd="sng" algn="ctr">
          <a:solidFill>
            <a:schemeClr val="tx1"/>
          </a:solidFill>
          <a:prstDash val="solid"/>
          <a:round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None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latin typeface="Times New Roman"/>
            <a:ea typeface="굴림"/>
          </a:defRPr>
        </a:defPPr>
      </a:lst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실사대비 보고자료 1">
    <a:dk1>
      <a:srgbClr val="000000"/>
    </a:dk1>
    <a:lt1>
      <a:srgbClr val="FFFF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FFFFFF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21464</TotalTime>
  <Words>280</Words>
  <Application>Microsoft Office PowerPoint</Application>
  <PresentationFormat>화면 슬라이드 쇼(4:3)</PresentationFormat>
  <Paragraphs>81</Paragraphs>
  <Slides>18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5" baseType="lpstr">
      <vt:lpstr>HY헤드라인M</vt:lpstr>
      <vt:lpstr>굴림</vt:lpstr>
      <vt:lpstr>맑은 고딕</vt:lpstr>
      <vt:lpstr>Arial</vt:lpstr>
      <vt:lpstr>Times New Roman</vt:lpstr>
      <vt:lpstr>Wingdings</vt:lpstr>
      <vt:lpstr>Default Theme</vt:lpstr>
      <vt:lpstr>논문 프로젝트7</vt:lpstr>
      <vt:lpstr>목차</vt:lpstr>
      <vt:lpstr>1. 오류 해결</vt:lpstr>
      <vt:lpstr>2. 오류 해결 후</vt:lpstr>
      <vt:lpstr>Kubernetes 의 설치 및 사용</vt:lpstr>
      <vt:lpstr>실행 되고있는 컨테이너 control plane</vt:lpstr>
      <vt:lpstr>기능 구현</vt:lpstr>
      <vt:lpstr>RabbitMQ 사용하면서 발생했던 오류</vt:lpstr>
      <vt:lpstr>User-service</vt:lpstr>
      <vt:lpstr>User-service</vt:lpstr>
      <vt:lpstr>Event-service</vt:lpstr>
      <vt:lpstr>Event-service</vt:lpstr>
      <vt:lpstr>MongoDB에 저장된 내용</vt:lpstr>
      <vt:lpstr>각 기능의 테스트 결과</vt:lpstr>
      <vt:lpstr>각 기능의 테스트 결과</vt:lpstr>
      <vt:lpstr>K8S 의 구성내용</vt:lpstr>
      <vt:lpstr>논문의 진행 상황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1234</dc:title>
  <dc:creator>Nineking</dc:creator>
  <cp:lastModifiedBy>유동균</cp:lastModifiedBy>
  <cp:revision>701</cp:revision>
  <cp:lastPrinted>2016-11-01T07:29:09Z</cp:lastPrinted>
  <dcterms:created xsi:type="dcterms:W3CDTF">2013-09-09T21:16:08Z</dcterms:created>
  <dcterms:modified xsi:type="dcterms:W3CDTF">2025-05-13T11:42:07Z</dcterms:modified>
</cp:coreProperties>
</file>