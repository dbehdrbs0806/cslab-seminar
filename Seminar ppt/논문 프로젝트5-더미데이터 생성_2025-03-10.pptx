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Override1.xml" ContentType="application/vnd.openxmlformats-officedocument.themeOverride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1"/>
  </p:sldMasterIdLst>
  <p:notesMasterIdLst>
    <p:notesMasterId r:id="rId13"/>
  </p:notesMasterIdLst>
  <p:sldIdLst>
    <p:sldId id="258" r:id="rId2"/>
    <p:sldId id="259" r:id="rId3"/>
    <p:sldId id="267" r:id="rId4"/>
    <p:sldId id="260" r:id="rId5"/>
    <p:sldId id="261" r:id="rId6"/>
    <p:sldId id="262" r:id="rId7"/>
    <p:sldId id="264" r:id="rId8"/>
    <p:sldId id="265" r:id="rId9"/>
    <p:sldId id="266" r:id="rId10"/>
    <p:sldId id="263" r:id="rId11"/>
    <p:sldId id="257" r:id="rId12"/>
  </p:sldIdLst>
  <p:sldSz cx="9144000" cy="6858000" type="screen4x3"/>
  <p:notesSz cx="6797675" cy="9874250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Times New Roman"/>
        <a:ea typeface="굴림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Times New Roman"/>
        <a:ea typeface="굴림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10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배찬민" initials="배" lastIdx="0" clrIdx="0"/>
  <p:cmAuthor id="2" name="한설 고" initials="한고" lastIdx="2" clrIdx="1">
    <p:extLst>
      <p:ext uri="{19B8F6BF-5375-455C-9EA6-DF929625EA0E}">
        <p15:presenceInfo xmlns:p15="http://schemas.microsoft.com/office/powerpoint/2012/main" userId="2892c982dbaa564d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CC0000"/>
    <a:srgbClr val="B9B9B9"/>
    <a:srgbClr val="00CC99"/>
    <a:srgbClr val="FFFF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54" autoAdjust="0"/>
    <p:restoredTop sz="83657" autoAdjust="0"/>
  </p:normalViewPr>
  <p:slideViewPr>
    <p:cSldViewPr>
      <p:cViewPr varScale="1">
        <p:scale>
          <a:sx n="108" d="100"/>
          <a:sy n="108" d="100"/>
        </p:scale>
        <p:origin x="2159" y="75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-14520"/>
    </p:cViewPr>
  </p:outlineViewPr>
  <p:notesTextViewPr>
    <p:cViewPr>
      <p:scale>
        <a:sx n="200" d="100"/>
        <a:sy n="200" d="100"/>
      </p:scale>
      <p:origin x="0" y="0"/>
    </p:cViewPr>
  </p:notesTextViewPr>
  <p:notesViewPr>
    <p:cSldViewPr>
      <p:cViewPr varScale="1">
        <p:scale>
          <a:sx n="64" d="100"/>
          <a:sy n="64" d="100"/>
        </p:scale>
        <p:origin x="-3432" y="-102"/>
      </p:cViewPr>
      <p:guideLst>
        <p:guide orient="horz" pos="3110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778" y="1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/>
          <a:lstStyle>
            <a:lvl1pPr algn="r">
              <a:defRPr sz="1200"/>
            </a:lvl1pPr>
          </a:lstStyle>
          <a:p>
            <a:fld id="{57764B8E-7EC0-4B59-8DA5-E04CAE3DB5F2}" type="datetimeFigureOut">
              <a:rPr lang="ko-KR" altLang="en-US" smtClean="0"/>
              <a:t>2025-03-10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30275" y="739775"/>
            <a:ext cx="4937125" cy="370363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9264" tIns="44632" rIns="89264" bIns="44632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9459" y="4690502"/>
            <a:ext cx="5438759" cy="4443878"/>
          </a:xfrm>
          <a:prstGeom prst="rect">
            <a:avLst/>
          </a:prstGeom>
        </p:spPr>
        <p:txBody>
          <a:bodyPr vert="horz" lIns="89264" tIns="44632" rIns="89264" bIns="44632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778" y="9379453"/>
            <a:ext cx="2945350" cy="493247"/>
          </a:xfrm>
          <a:prstGeom prst="rect">
            <a:avLst/>
          </a:prstGeom>
        </p:spPr>
        <p:txBody>
          <a:bodyPr vert="horz" lIns="89264" tIns="44632" rIns="89264" bIns="44632" rtlCol="0" anchor="b"/>
          <a:lstStyle>
            <a:lvl1pPr algn="r">
              <a:defRPr sz="1200"/>
            </a:lvl1pPr>
          </a:lstStyle>
          <a:p>
            <a:fld id="{420F09F9-D812-4758-8566-A65BCCCBDD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80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8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08918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16724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854991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99555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20F09F9-D812-4758-8566-A65BCCCBDD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92510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6"/>
          <p:cNvSpPr>
            <a:spLocks noChangeArrowheads="1"/>
          </p:cNvSpPr>
          <p:nvPr/>
        </p:nvSpPr>
        <p:spPr bwMode="auto"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ko-KR" altLang="en-US"/>
          </a:p>
        </p:txBody>
      </p:sp>
      <p:sp>
        <p:nvSpPr>
          <p:cNvPr id="5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6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7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51202" name="Rectangle 2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5800" y="1752600"/>
            <a:ext cx="7772400" cy="1981200"/>
          </a:xfrm>
        </p:spPr>
        <p:txBody>
          <a:bodyPr anchor="ctr" anchorCtr="1">
            <a:normAutofit/>
          </a:bodyPr>
          <a:lstStyle>
            <a:lvl1pPr algn="ctr">
              <a:defRPr/>
            </a:lvl1pPr>
          </a:lstStyle>
          <a:p>
            <a:r>
              <a:rPr lang="ko-KR" altLang="en-US" dirty="0"/>
              <a:t>세미나 제목</a:t>
            </a:r>
            <a:endParaRPr lang="en-US" altLang="ko-KR" dirty="0"/>
          </a:p>
        </p:txBody>
      </p:sp>
      <p:sp>
        <p:nvSpPr>
          <p:cNvPr id="51203" name="Rectangle 3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371600" y="3886200"/>
            <a:ext cx="6400800" cy="28194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23/12/26</a:t>
            </a:r>
            <a:endParaRPr lang="ko-KR" altLang="en-US" dirty="0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sldNum" sz="quarter" idx="10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ea typeface="굴림" charset="-127"/>
              </a:defRPr>
            </a:lvl1pPr>
          </a:lstStyle>
          <a:p>
            <a:pPr>
              <a:defRPr/>
            </a:pPr>
            <a:fld id="{87A7431B-603E-467D-882E-3062B6363ECA}" type="slidenum">
              <a:rPr lang="en-US" altLang="ko-KR" smtClean="0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1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2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3" name="Text Box 14"/>
          <p:cNvSpPr txBox="1">
            <a:spLocks noChangeArrowheads="1"/>
          </p:cNvSpPr>
          <p:nvPr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4" name="Text Box 15"/>
          <p:cNvSpPr txBox="1">
            <a:spLocks noChangeArrowheads="1"/>
          </p:cNvSpPr>
          <p:nvPr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5" name="Picture 1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16" name="Rectangle 4"/>
          <p:cNvSpPr>
            <a:spLocks noChangeArrowheads="1"/>
          </p:cNvSpPr>
          <p:nvPr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18" name="Text Box 14"/>
          <p:cNvSpPr txBox="1">
            <a:spLocks noChangeArrowheads="1"/>
          </p:cNvSpPr>
          <p:nvPr userDrawn="1"/>
        </p:nvSpPr>
        <p:spPr bwMode="auto"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19" name="Text Box 15"/>
          <p:cNvSpPr txBox="1">
            <a:spLocks noChangeArrowheads="1"/>
          </p:cNvSpPr>
          <p:nvPr userDrawn="1"/>
        </p:nvSpPr>
        <p:spPr bwMode="auto"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algn="ctr">
              <a:defRPr/>
            </a:pPr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20" name="Picture 16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 lim="800000"/>
            <a:headEnd/>
            <a:tailEnd/>
          </a:ln>
        </p:spPr>
      </p:pic>
      <p:sp>
        <p:nvSpPr>
          <p:cNvPr id="21" name="Rectangle 4"/>
          <p:cNvSpPr>
            <a:spLocks noChangeArrowheads="1"/>
          </p:cNvSpPr>
          <p:nvPr userDrawn="1"/>
        </p:nvSpPr>
        <p:spPr>
          <a:xfrm>
            <a:off x="838200" y="1676400"/>
            <a:ext cx="7772400" cy="76200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  <p:sp>
        <p:nvSpPr>
          <p:cNvPr id="22" name="Rectangle 5"/>
          <p:cNvSpPr>
            <a:spLocks noChangeArrowheads="1"/>
          </p:cNvSpPr>
          <p:nvPr userDrawn="1"/>
        </p:nvSpPr>
        <p:spPr>
          <a:xfrm>
            <a:off x="1116013" y="3548063"/>
            <a:ext cx="7272337" cy="87312"/>
          </a:xfrm>
          <a:prstGeom prst="rect">
            <a:avLst/>
          </a:prstGeom>
          <a:solidFill>
            <a:srgbClr val="003E7C"/>
          </a:solidFill>
          <a:ln w="9525">
            <a:noFill/>
            <a:miter/>
          </a:ln>
        </p:spPr>
        <p:txBody>
          <a:bodyPr wrap="none" anchor="ctr"/>
          <a:lstStyle/>
          <a:p>
            <a:pPr algn="ctr"/>
            <a:endParaRPr lang="en-US" altLang="ko-KR">
              <a:solidFill>
                <a:schemeClr val="accent2"/>
              </a:solidFill>
              <a:latin typeface="굴림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55650" y="158820"/>
            <a:ext cx="8137525" cy="707886"/>
          </a:xfrm>
        </p:spPr>
        <p:txBody>
          <a:bodyPr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b="0"/>
            </a:lvl1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28675" y="1052513"/>
            <a:ext cx="3919538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00613" y="1052513"/>
            <a:ext cx="3919537" cy="527208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2031325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en-US" altLang="ko-KR" sz="1800" b="1" dirty="0">
                <a:latin typeface="Arial"/>
                <a:ea typeface="굴림"/>
              </a:rPr>
              <a:t>Email : a67422830@gmail.com</a:t>
            </a:r>
            <a:endParaRPr lang="ko-KR" altLang="en-US" sz="1800" b="1" dirty="0">
              <a:latin typeface="Arial"/>
              <a:ea typeface="굴림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  <p:sp>
        <p:nvSpPr>
          <p:cNvPr id="7" name="TextBox 6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noProof="0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9588" y="188913"/>
            <a:ext cx="2033587" cy="6135687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755650" y="188913"/>
            <a:ext cx="5951538" cy="613568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2"/>
          <p:cNvSpPr>
            <a:spLocks noChangeArrowheads="1"/>
          </p:cNvSpPr>
          <p:nvPr/>
        </p:nvSpPr>
        <p:spPr bwMode="gray">
          <a:xfrm>
            <a:off x="804863" y="1484313"/>
            <a:ext cx="8088312" cy="4892675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 w="9525">
            <a:noFill/>
            <a:round/>
          </a:ln>
        </p:spPr>
        <p:txBody>
          <a:bodyPr wrap="none" anchor="ctr"/>
          <a:lstStyle/>
          <a:p>
            <a:pPr algn="ctr"/>
            <a:endParaRPr lang="ko-KR" altLang="en-US"/>
          </a:p>
        </p:txBody>
      </p:sp>
      <p:pic>
        <p:nvPicPr>
          <p:cNvPr id="4" name="Picture 4" descr="PE01962_"/>
          <p:cNvPicPr>
            <a:picLocks noChangeAspect="1" noChangeArrowheads="1"/>
          </p:cNvPicPr>
          <p:nvPr/>
        </p:nvPicPr>
        <p:blipFill rotWithShape="1">
          <a:blip r:embed="rId2" cstate="print"/>
          <a:srcRect/>
          <a:stretch>
            <a:fillRect/>
          </a:stretch>
        </p:blipFill>
        <p:spPr>
          <a:xfrm>
            <a:off x="1319213" y="3810000"/>
            <a:ext cx="2362200" cy="2241550"/>
          </a:xfrm>
          <a:prstGeom prst="rect">
            <a:avLst/>
          </a:prstGeom>
          <a:noFill/>
          <a:ln w="9525">
            <a:noFill/>
            <a:miter/>
          </a:ln>
        </p:spPr>
      </p:pic>
      <p:sp>
        <p:nvSpPr>
          <p:cNvPr id="5" name="Text Box 5"/>
          <p:cNvSpPr txBox="1">
            <a:spLocks noChangeArrowheads="1"/>
          </p:cNvSpPr>
          <p:nvPr/>
        </p:nvSpPr>
        <p:spPr bwMode="gray">
          <a:xfrm>
            <a:off x="4643438" y="2468563"/>
            <a:ext cx="3961010" cy="1754326"/>
          </a:xfrm>
          <a:prstGeom prst="rect">
            <a:avLst/>
          </a:prstGeom>
          <a:gradFill rotWithShape="0">
            <a:gsLst>
              <a:gs pos="0">
                <a:srgbClr val="FFFFFF"/>
              </a:gs>
              <a:gs pos="100000">
                <a:srgbClr val="CC99F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miter/>
          </a:ln>
          <a:effectLst>
            <a:outerShdw dist="107763" dir="8100000" algn="ctr" rotWithShape="0">
              <a:srgbClr val="868686"/>
            </a:outerShdw>
          </a:effectLst>
        </p:spPr>
        <p:txBody>
          <a:bodyPr wrap="square">
            <a:spAutoFit/>
          </a:bodyPr>
          <a:lstStyle/>
          <a:p>
            <a:r>
              <a:rPr lang="en-US" altLang="ko-KR" sz="1800" b="1" dirty="0">
                <a:latin typeface="Arial"/>
                <a:ea typeface="굴림"/>
              </a:rPr>
              <a:t>Please contact :</a:t>
            </a:r>
          </a:p>
          <a:p>
            <a:endParaRPr lang="en-US" altLang="ko-KR" sz="1800" b="1" dirty="0">
              <a:latin typeface="Arial"/>
              <a:ea typeface="굴림"/>
            </a:endParaRPr>
          </a:p>
          <a:p>
            <a:r>
              <a:rPr lang="ko-KR" altLang="en-US" sz="1800" b="1" dirty="0" err="1">
                <a:latin typeface="HY헤드라인M"/>
                <a:ea typeface="HY헤드라인M"/>
              </a:rPr>
              <a:t>유동균</a:t>
            </a:r>
            <a:endParaRPr lang="en-US" altLang="ko-KR" sz="1800" b="1" dirty="0">
              <a:latin typeface="HY헤드라인M"/>
              <a:ea typeface="HY헤드라인M"/>
            </a:endParaRPr>
          </a:p>
          <a:p>
            <a:r>
              <a:rPr lang="ko-KR" altLang="en-US" sz="1800" b="1" dirty="0">
                <a:latin typeface="HY헤드라인M"/>
                <a:ea typeface="HY헤드라인M"/>
              </a:rPr>
              <a:t>순천향대학교 컴퓨터공학과</a:t>
            </a:r>
          </a:p>
          <a:p>
            <a:r>
              <a:rPr lang="ko-KR" altLang="en-US" sz="1800" b="1" dirty="0">
                <a:latin typeface="HY헤드라인M"/>
                <a:ea typeface="HY헤드라인M"/>
              </a:rPr>
              <a:t>멀티미디어관 </a:t>
            </a:r>
            <a:r>
              <a:rPr lang="en-US" altLang="ko-KR" sz="1800" b="1" dirty="0">
                <a:latin typeface="HY헤드라인M"/>
                <a:ea typeface="HY헤드라인M"/>
              </a:rPr>
              <a:t>M606</a:t>
            </a:r>
          </a:p>
          <a:p>
            <a:endParaRPr lang="en-US" altLang="ko-KR" sz="1800" b="1" dirty="0">
              <a:latin typeface="HY헤드라인M"/>
              <a:ea typeface="HY헤드라인M"/>
            </a:endParaRPr>
          </a:p>
        </p:txBody>
      </p:sp>
      <p:sp>
        <p:nvSpPr>
          <p:cNvPr id="6" name="TextBox 5"/>
          <p:cNvSpPr txBox="1"/>
          <p:nvPr userDrawn="1"/>
        </p:nvSpPr>
        <p:spPr>
          <a:xfrm>
            <a:off x="755576" y="116632"/>
            <a:ext cx="532859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4000" b="1" i="1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 rotWithShape="0">
                    <a:srgbClr val="000000">
                      <a:alpha val="40000"/>
                    </a:srgbClr>
                  </a:outerShdw>
                </a:effectLst>
                <a:latin typeface="+mn-ea"/>
                <a:cs typeface="Times New Roman"/>
              </a:rPr>
              <a:t>Question?</a:t>
            </a:r>
            <a:endParaRPr lang="ko-KR" altLang="en-US" sz="4000" b="1" i="1">
              <a:latin typeface="+mj-ea"/>
              <a:ea typeface="+mj-ea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>
          <a:xfrm>
            <a:off x="755650" y="188913"/>
            <a:ext cx="8137525" cy="6477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ctr" anchorCtr="0"/>
          <a:lstStyle/>
          <a:p>
            <a:pPr lvl="0"/>
            <a:r>
              <a:rPr lang="ko-KR" altLang="en-US"/>
              <a:t>마스터 제목 유형을 편집하려면 누르십시오</a:t>
            </a:r>
            <a:r>
              <a:rPr lang="en-US" altLang="ko-KR"/>
              <a:t>. 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28675" y="1052513"/>
            <a:ext cx="7991475" cy="5272087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1440" tIns="45720" rIns="91440" bIns="45720" anchor="t" anchorCtr="0"/>
          <a:lstStyle/>
          <a:p>
            <a:pPr lvl="0"/>
            <a:r>
              <a:rPr lang="ko-KR" altLang="en-US"/>
              <a:t>마스터 문자열 유형을 편집하려면 누르십시오</a:t>
            </a:r>
            <a:r>
              <a:rPr lang="en-US" altLang="ko-KR"/>
              <a:t>.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세째 수준</a:t>
            </a:r>
          </a:p>
          <a:p>
            <a:pPr lvl="3"/>
            <a:r>
              <a:rPr lang="ko-KR" altLang="en-US"/>
              <a:t>네째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>
          <a:xfrm>
            <a:off x="684213" y="908050"/>
            <a:ext cx="8459787" cy="69850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rgbClr val="000066"/>
              </a:gs>
            </a:gsLst>
            <a:lin ang="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>
          <a:xfrm>
            <a:off x="6988175" y="6477000"/>
            <a:ext cx="1905000" cy="38100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/>
          <a:lstStyle/>
          <a:p>
            <a:pPr algn="r"/>
            <a:fld id="{467224BF-58AA-4D3F-AC6F-AA05367478A1}" type="slidenum">
              <a:rPr lang="en-US" altLang="ko-KR" sz="1400"/>
              <a:pPr algn="r"/>
              <a:t>‹#›</a:t>
            </a:fld>
            <a:endParaRPr lang="en-US" altLang="ko-KR" sz="1400"/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>
          <a:xfrm rot="5400000">
            <a:off x="-2432843" y="2432843"/>
            <a:ext cx="5334000" cy="468313"/>
          </a:xfrm>
          <a:prstGeom prst="rect">
            <a:avLst/>
          </a:prstGeom>
          <a:gradFill rotWithShape="0">
            <a:gsLst>
              <a:gs pos="0">
                <a:srgbClr val="000066"/>
              </a:gs>
              <a:gs pos="100000">
                <a:schemeClr val="bg1"/>
              </a:gs>
            </a:gsLst>
            <a:lin ang="5400000" scaled="1"/>
          </a:gradFill>
          <a:ln w="9525">
            <a:noFill/>
            <a:miter/>
          </a:ln>
          <a:effectLst/>
        </p:spPr>
        <p:txBody>
          <a:bodyPr wrap="none" anchor="ctr"/>
          <a:lstStyle/>
          <a:p>
            <a:pPr algn="ctr"/>
            <a:endParaRPr lang="ko-KR" altLang="en-US"/>
          </a:p>
        </p:txBody>
      </p:sp>
      <p:sp>
        <p:nvSpPr>
          <p:cNvPr id="50195" name="Text Box 19"/>
          <p:cNvSpPr txBox="1">
            <a:spLocks noChangeArrowheads="1"/>
          </p:cNvSpPr>
          <p:nvPr/>
        </p:nvSpPr>
        <p:spPr>
          <a:xfrm rot="16200000">
            <a:off x="-1194593" y="1250156"/>
            <a:ext cx="2808288" cy="396875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2000" b="1" i="1">
                <a:solidFill>
                  <a:srgbClr val="000066"/>
                </a:solidFill>
              </a:rPr>
              <a:t>Computer System</a:t>
            </a:r>
            <a:r>
              <a:rPr lang="en-US" altLang="ko-KR" sz="2000" b="1" i="1">
                <a:solidFill>
                  <a:srgbClr val="0000FF"/>
                </a:solidFill>
              </a:rPr>
              <a:t>  </a:t>
            </a:r>
            <a:r>
              <a:rPr lang="en-US" altLang="ko-KR" sz="2000" b="1" i="1">
                <a:solidFill>
                  <a:schemeClr val="bg1"/>
                </a:solidFill>
              </a:rPr>
              <a:t>Lab.</a:t>
            </a:r>
          </a:p>
        </p:txBody>
      </p:sp>
      <p:sp>
        <p:nvSpPr>
          <p:cNvPr id="50196" name="Text Box 20"/>
          <p:cNvSpPr txBox="1">
            <a:spLocks noChangeArrowheads="1"/>
          </p:cNvSpPr>
          <p:nvPr/>
        </p:nvSpPr>
        <p:spPr>
          <a:xfrm rot="16200000">
            <a:off x="-373062" y="5205413"/>
            <a:ext cx="1295400" cy="336550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>
            <a:spAutoFit/>
          </a:bodyPr>
          <a:lstStyle/>
          <a:p>
            <a:pPr algn="ctr"/>
            <a:r>
              <a:rPr lang="en-US" altLang="ko-KR" sz="1600" b="1" i="1">
                <a:solidFill>
                  <a:srgbClr val="000066"/>
                </a:solidFill>
              </a:rPr>
              <a:t>University</a:t>
            </a:r>
            <a:endParaRPr lang="en-US" altLang="ko-KR" sz="1600" b="1" i="1">
              <a:solidFill>
                <a:schemeClr val="bg1"/>
              </a:solidFill>
            </a:endParaRPr>
          </a:p>
        </p:txBody>
      </p:sp>
      <p:pic>
        <p:nvPicPr>
          <p:cNvPr id="1033" name="Picture 21"/>
          <p:cNvPicPr>
            <a:picLocks noChangeAspect="1" noChangeArrowheads="1"/>
          </p:cNvPicPr>
          <p:nvPr/>
        </p:nvPicPr>
        <p:blipFill rotWithShape="1">
          <a:blip r:embed="rId14" cstate="print"/>
          <a:srcRect/>
          <a:stretch>
            <a:fillRect/>
          </a:stretch>
        </p:blipFill>
        <p:spPr>
          <a:xfrm>
            <a:off x="34925" y="5805488"/>
            <a:ext cx="381000" cy="923925"/>
          </a:xfrm>
          <a:prstGeom prst="rect">
            <a:avLst/>
          </a:prstGeom>
          <a:noFill/>
          <a:ln w="28575" algn="ctr">
            <a:noFill/>
            <a:miter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45" r:id="rId12"/>
  </p:sldLayoutIdLst>
  <p:txStyles>
    <p:titleStyle>
      <a:lvl1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+mj-lt"/>
          <a:ea typeface="+mj-ea"/>
          <a:cs typeface="+mj-cs"/>
        </a:defRPr>
      </a:lvl1pPr>
      <a:lvl2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2pPr>
      <a:lvl3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3pPr>
      <a:lvl4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4pPr>
      <a:lvl5pPr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4000" b="1" i="1">
          <a:solidFill>
            <a:srgbClr val="000066"/>
          </a:solidFill>
          <a:latin typeface="HY헤드라인M"/>
          <a:ea typeface="HY헤드라인M"/>
        </a:defRPr>
      </a:lvl9pPr>
    </p:titleStyle>
    <p:bodyStyle>
      <a:lvl1pPr marL="342900" indent="-342900" algn="l" rtl="0" eaLnBrk="1" fontAlgn="base" latinLnBrk="1" hangingPunct="1">
        <a:spcBef>
          <a:spcPct val="20000"/>
        </a:spcBef>
        <a:spcAft>
          <a:spcPct val="0"/>
        </a:spcAft>
        <a:buSzPct val="80000"/>
        <a:buFont typeface="Wingdings"/>
        <a:buChar char="u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latinLnBrk="1" hangingPunct="1">
        <a:spcBef>
          <a:spcPct val="20000"/>
        </a:spcBef>
        <a:spcAft>
          <a:spcPct val="0"/>
        </a:spcAft>
        <a:buSzPct val="110000"/>
        <a:buFont typeface="Wingdings"/>
        <a:buChar char="ü"/>
        <a:defRPr kumimoji="1" sz="24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1" fontAlgn="base" latinLnBrk="1" hangingPunct="1">
        <a:spcBef>
          <a:spcPct val="20000"/>
        </a:spcBef>
        <a:spcAft>
          <a:spcPct val="0"/>
        </a:spcAft>
        <a:buFont typeface="Wingdings"/>
        <a:buChar char="Ø"/>
        <a:defRPr kumimoji="1" sz="20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1" fontAlgn="base" latinLnBrk="1" hangingPunct="1">
        <a:spcBef>
          <a:spcPct val="20000"/>
        </a:spcBef>
        <a:spcAft>
          <a:spcPct val="0"/>
        </a:spcAft>
        <a:buChar char="•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BA242A-9D6D-D5F0-49FA-D7F64E0A899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논문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F259FBF-CA7E-38AB-74F9-500D0F10542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순천향대학교</a:t>
            </a:r>
            <a:endParaRPr lang="en-US" altLang="ko-KR" dirty="0"/>
          </a:p>
          <a:p>
            <a:r>
              <a:rPr lang="ko-KR" altLang="en-US" dirty="0"/>
              <a:t>컴퓨터시스템연구실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유동균</a:t>
            </a:r>
            <a:endParaRPr lang="en-US" altLang="ko-KR" dirty="0"/>
          </a:p>
          <a:p>
            <a:r>
              <a:rPr lang="en-US" altLang="ko-KR" dirty="0"/>
              <a:t>25/03/10</a:t>
            </a:r>
          </a:p>
        </p:txBody>
      </p:sp>
    </p:spTree>
    <p:extLst>
      <p:ext uri="{BB962C8B-B14F-4D97-AF65-F5344CB8AC3E}">
        <p14:creationId xmlns:p14="http://schemas.microsoft.com/office/powerpoint/2010/main" val="514904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086CDC-20D2-563F-2B2A-B6BE5B47B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7A0CC9-B749-2242-7365-0E9537911B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0070" y="1268760"/>
            <a:ext cx="8426648" cy="5272087"/>
          </a:xfrm>
        </p:spPr>
        <p:txBody>
          <a:bodyPr/>
          <a:lstStyle/>
          <a:p>
            <a:pPr marL="0" indent="0">
              <a:buNone/>
            </a:pPr>
            <a:r>
              <a:rPr lang="en-US" altLang="ko-KR" dirty="0"/>
              <a:t>1. MongoDB</a:t>
            </a:r>
            <a:r>
              <a:rPr lang="ko-KR" altLang="en-US" dirty="0"/>
              <a:t>에서 더미 데이터의 생성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</a:t>
            </a:r>
            <a:r>
              <a:rPr lang="ko-KR" altLang="en-US" dirty="0"/>
              <a:t>오류 해결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183047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FD160BF-CFD6-66C4-099C-CD794E7B9D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애플리케이션의 기능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DA55EC-300B-986F-D0B2-1E2FB702F9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8675" y="1052513"/>
            <a:ext cx="7991475" cy="5646667"/>
          </a:xfrm>
        </p:spPr>
        <p:txBody>
          <a:bodyPr/>
          <a:lstStyle/>
          <a:p>
            <a:r>
              <a:rPr lang="ko-KR" altLang="en-US" dirty="0"/>
              <a:t>대시보드의 구성</a:t>
            </a: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차트</a:t>
            </a:r>
            <a:r>
              <a:rPr lang="en-US" altLang="ko-KR" dirty="0"/>
              <a:t>, </a:t>
            </a:r>
            <a:r>
              <a:rPr lang="ko-KR" altLang="en-US" dirty="0"/>
              <a:t>대시보드를 통해 데이터의 현황을 표현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Consumer</a:t>
            </a:r>
            <a:r>
              <a:rPr lang="en-US" altLang="ko-KR" dirty="0"/>
              <a:t> </a:t>
            </a:r>
            <a:r>
              <a:rPr lang="ko-KR" altLang="en-US" dirty="0"/>
              <a:t>컬렉션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sz="2400" dirty="0"/>
              <a:t>대시보드로 총 고객 수</a:t>
            </a:r>
            <a:r>
              <a:rPr lang="en-US" altLang="ko-KR" sz="2400" dirty="0"/>
              <a:t>, </a:t>
            </a:r>
            <a:r>
              <a:rPr lang="ko-KR" altLang="en-US" sz="2400" dirty="0"/>
              <a:t>가입한 고객 수를 표현</a:t>
            </a:r>
            <a:endParaRPr lang="en-US" altLang="ko-KR" sz="2400" dirty="0"/>
          </a:p>
          <a:p>
            <a:pPr>
              <a:buFont typeface="Symbol" panose="05050102010706020507" pitchFamily="18" charset="2"/>
              <a:buChar char="Þ"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Transactions</a:t>
            </a:r>
            <a:r>
              <a:rPr lang="ko-KR" altLang="en-US" dirty="0"/>
              <a:t> 컬렉션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sz="2400" dirty="0"/>
              <a:t>차트</a:t>
            </a:r>
            <a:r>
              <a:rPr lang="en-US" altLang="ko-KR" sz="2400" dirty="0"/>
              <a:t>(</a:t>
            </a:r>
            <a:r>
              <a:rPr lang="ko-KR" altLang="en-US" sz="2400" dirty="0"/>
              <a:t>막대 그래프</a:t>
            </a:r>
            <a:r>
              <a:rPr lang="en-US" altLang="ko-KR" sz="2400" dirty="0"/>
              <a:t>)</a:t>
            </a:r>
            <a:r>
              <a:rPr lang="ko-KR" altLang="en-US" sz="2400" dirty="0"/>
              <a:t>를 통해 거래금액 비교 표현</a:t>
            </a:r>
            <a:endParaRPr lang="en-US" altLang="ko-KR" sz="2400" dirty="0"/>
          </a:p>
          <a:p>
            <a:pPr>
              <a:buFont typeface="Symbol" panose="05050102010706020507" pitchFamily="18" charset="2"/>
              <a:buChar char="Þ"/>
            </a:pPr>
            <a:endParaRPr lang="en-US" altLang="ko-KR" sz="2400" dirty="0"/>
          </a:p>
          <a:p>
            <a:pPr marL="0" indent="0">
              <a:buNone/>
            </a:pPr>
            <a:r>
              <a:rPr lang="en-US" altLang="ko-KR" dirty="0">
                <a:solidFill>
                  <a:srgbClr val="FF0000"/>
                </a:solidFill>
              </a:rPr>
              <a:t>Feedbacks</a:t>
            </a:r>
            <a:r>
              <a:rPr lang="ko-KR" altLang="en-US" dirty="0"/>
              <a:t> 컬렉션</a:t>
            </a:r>
            <a:endParaRPr lang="en-US" altLang="ko-KR" dirty="0"/>
          </a:p>
          <a:p>
            <a:pPr>
              <a:buFont typeface="Symbol" panose="05050102010706020507" pitchFamily="18" charset="2"/>
              <a:buChar char="Þ"/>
            </a:pPr>
            <a:r>
              <a:rPr lang="ko-KR" altLang="en-US" sz="2400" dirty="0"/>
              <a:t>고객의 평점 확인 차트</a:t>
            </a:r>
            <a:endParaRPr lang="en-US" altLang="ko-KR" sz="2400" dirty="0"/>
          </a:p>
          <a:p>
            <a:pPr>
              <a:buFont typeface="Symbol" panose="05050102010706020507" pitchFamily="18" charset="2"/>
              <a:buChar char="Þ"/>
            </a:pPr>
            <a:endParaRPr lang="en-US" altLang="ko-KR" sz="2400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1546222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1A09EFB-66CB-7036-A5DA-CDC8B63B5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더미 데이터의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150B7EC-7298-67FA-F0B9-251F1794DF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80554"/>
            <a:ext cx="8676456" cy="5718626"/>
          </a:xfrm>
        </p:spPr>
        <p:txBody>
          <a:bodyPr>
            <a:normAutofit/>
          </a:bodyPr>
          <a:lstStyle/>
          <a:p>
            <a:r>
              <a:rPr lang="ko-KR" altLang="en-US" dirty="0"/>
              <a:t>소비자 데이터 형식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consumers: 		    transactions: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user-service</a:t>
            </a:r>
            <a:r>
              <a:rPr lang="ko-KR" altLang="en-US" dirty="0"/>
              <a:t>에서 관리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9850CFA-458B-8E36-E90C-556DC906815C}"/>
              </a:ext>
            </a:extLst>
          </p:cNvPr>
          <p:cNvSpPr txBox="1"/>
          <p:nvPr/>
        </p:nvSpPr>
        <p:spPr>
          <a:xfrm>
            <a:off x="35496" y="2708920"/>
            <a:ext cx="4609872" cy="2585323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consumer_id</a:t>
            </a:r>
            <a:r>
              <a:rPr lang="en-US" altLang="ko-KR" sz="1800" dirty="0">
                <a:latin typeface="+mn-ea"/>
                <a:ea typeface="+mn-ea"/>
              </a:rPr>
              <a:t>": "csm_001",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"name": "</a:t>
            </a:r>
            <a:r>
              <a:rPr lang="ko-KR" altLang="en-US" sz="1800" dirty="0">
                <a:latin typeface="+mn-ea"/>
                <a:ea typeface="+mn-ea"/>
              </a:rPr>
              <a:t>김철수</a:t>
            </a:r>
            <a:r>
              <a:rPr lang="en-US" altLang="ko-KR" sz="1800" dirty="0">
                <a:latin typeface="+mn-ea"/>
                <a:ea typeface="+mn-ea"/>
              </a:rPr>
              <a:t>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"email": "chulsoo@example.com",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"phone": "010-1234-5678",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registration_date</a:t>
            </a:r>
            <a:r>
              <a:rPr lang="en-US" altLang="ko-KR" sz="1800" dirty="0">
                <a:latin typeface="+mn-ea"/>
                <a:ea typeface="+mn-ea"/>
              </a:rPr>
              <a:t>": "2025-03-09T14:23:00Z",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last_activity</a:t>
            </a:r>
            <a:r>
              <a:rPr lang="en-US" altLang="ko-KR" sz="1800" dirty="0">
                <a:latin typeface="+mn-ea"/>
                <a:ea typeface="+mn-ea"/>
              </a:rPr>
              <a:t>": "2025-03-09T15:00:00Z"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E3057C-EA68-9AEB-08BE-C78568968AEF}"/>
              </a:ext>
            </a:extLst>
          </p:cNvPr>
          <p:cNvSpPr txBox="1"/>
          <p:nvPr/>
        </p:nvSpPr>
        <p:spPr>
          <a:xfrm>
            <a:off x="4731336" y="2708920"/>
            <a:ext cx="4355533" cy="2862322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transaction_id</a:t>
            </a:r>
            <a:r>
              <a:rPr lang="en-US" altLang="ko-KR" sz="1800" dirty="0">
                <a:latin typeface="+mn-ea"/>
                <a:ea typeface="+mn-ea"/>
              </a:rPr>
              <a:t>": "txn_001",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consumer_id</a:t>
            </a:r>
            <a:r>
              <a:rPr lang="en-US" altLang="ko-KR" sz="1800" dirty="0">
                <a:latin typeface="+mn-ea"/>
                <a:ea typeface="+mn-ea"/>
              </a:rPr>
              <a:t>": "csm_001",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"amount": 129000,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"currency": "KRW",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payment_method</a:t>
            </a:r>
            <a:r>
              <a:rPr lang="en-US" altLang="ko-KR" sz="1800" dirty="0">
                <a:latin typeface="+mn-ea"/>
                <a:ea typeface="+mn-ea"/>
              </a:rPr>
              <a:t>": "</a:t>
            </a:r>
            <a:r>
              <a:rPr lang="en-US" altLang="ko-KR" sz="1800" dirty="0" err="1">
                <a:latin typeface="+mn-ea"/>
                <a:ea typeface="+mn-ea"/>
              </a:rPr>
              <a:t>credit_card</a:t>
            </a:r>
            <a:r>
              <a:rPr lang="en-US" altLang="ko-KR" sz="1800" dirty="0">
                <a:latin typeface="+mn-ea"/>
                <a:ea typeface="+mn-ea"/>
              </a:rPr>
              <a:t>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"status": "completed",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transaction_date</a:t>
            </a:r>
            <a:r>
              <a:rPr lang="en-US" altLang="ko-KR" sz="1800" dirty="0">
                <a:latin typeface="+mn-ea"/>
                <a:ea typeface="+mn-ea"/>
              </a:rPr>
              <a:t>": "2025-03-09T13:45:00Z"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4389512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4F5222-924F-DD0C-492F-42ABA1E0F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더미 데이터의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A8590EC-DB90-59E0-91CF-90A2C9A39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836712"/>
            <a:ext cx="7992888" cy="6021288"/>
          </a:xfrm>
        </p:spPr>
        <p:txBody>
          <a:bodyPr/>
          <a:lstStyle/>
          <a:p>
            <a:r>
              <a:rPr lang="ko-KR" altLang="en-US" dirty="0"/>
              <a:t>소비자 데이터 형식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feedbacks: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ko-KR" altLang="en-US" sz="2400" dirty="0"/>
              <a:t>소비자의 데이터를 차트</a:t>
            </a:r>
            <a:r>
              <a:rPr lang="en-US" altLang="ko-KR" sz="2400" dirty="0"/>
              <a:t>, </a:t>
            </a:r>
            <a:r>
              <a:rPr lang="ko-KR" altLang="en-US" sz="2400" dirty="0"/>
              <a:t>대시보드화에 사용하는 형식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dirty="0"/>
              <a:t>notifications:</a:t>
            </a:r>
          </a:p>
          <a:p>
            <a:pPr marL="0" indent="0">
              <a:buNone/>
            </a:pPr>
            <a:r>
              <a:rPr lang="en-US" altLang="ko-KR" dirty="0"/>
              <a:t> 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B061F0-D3B3-1025-F3FE-F3AB701A8640}"/>
              </a:ext>
            </a:extLst>
          </p:cNvPr>
          <p:cNvSpPr txBox="1"/>
          <p:nvPr/>
        </p:nvSpPr>
        <p:spPr>
          <a:xfrm>
            <a:off x="589457" y="1839555"/>
            <a:ext cx="4609872" cy="20313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feedback_id</a:t>
            </a:r>
            <a:r>
              <a:rPr lang="en-US" altLang="ko-KR" sz="1800" dirty="0">
                <a:latin typeface="+mn-ea"/>
                <a:ea typeface="+mn-ea"/>
              </a:rPr>
              <a:t>": "fb_101",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consumer_id</a:t>
            </a:r>
            <a:r>
              <a:rPr lang="en-US" altLang="ko-KR" sz="1800" dirty="0">
                <a:latin typeface="+mn-ea"/>
                <a:ea typeface="+mn-ea"/>
              </a:rPr>
              <a:t>": "csm_001",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"rating": 4.5,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"comment": "</a:t>
            </a:r>
            <a:r>
              <a:rPr lang="ko-KR" altLang="en-US" sz="1800" dirty="0">
                <a:latin typeface="+mn-ea"/>
                <a:ea typeface="+mn-ea"/>
              </a:rPr>
              <a:t>서비스가 만족스럽습니다</a:t>
            </a:r>
            <a:r>
              <a:rPr lang="en-US" altLang="ko-KR" sz="1800" dirty="0">
                <a:latin typeface="+mn-ea"/>
                <a:ea typeface="+mn-ea"/>
              </a:rPr>
              <a:t>!",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created_at</a:t>
            </a:r>
            <a:r>
              <a:rPr lang="en-US" altLang="ko-KR" sz="1800" dirty="0">
                <a:latin typeface="+mn-ea"/>
                <a:ea typeface="+mn-ea"/>
              </a:rPr>
              <a:t>": "2025-03-09T14:10:00Z"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8C52B3-91DE-3F88-5573-455ED006E2CE}"/>
              </a:ext>
            </a:extLst>
          </p:cNvPr>
          <p:cNvSpPr txBox="1"/>
          <p:nvPr/>
        </p:nvSpPr>
        <p:spPr>
          <a:xfrm>
            <a:off x="566896" y="4826675"/>
            <a:ext cx="5976664" cy="2031325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notification_id</a:t>
            </a:r>
            <a:r>
              <a:rPr lang="en-US" altLang="ko-KR" sz="1800" dirty="0">
                <a:latin typeface="+mn-ea"/>
                <a:ea typeface="+mn-ea"/>
              </a:rPr>
              <a:t>": "notif_001",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"type": "</a:t>
            </a:r>
            <a:r>
              <a:rPr lang="en-US" altLang="ko-KR" sz="1800" dirty="0" err="1">
                <a:latin typeface="+mn-ea"/>
                <a:ea typeface="+mn-ea"/>
              </a:rPr>
              <a:t>data_update</a:t>
            </a:r>
            <a:r>
              <a:rPr lang="en-US" altLang="ko-KR" sz="1800" dirty="0">
                <a:latin typeface="+mn-ea"/>
                <a:ea typeface="+mn-ea"/>
              </a:rPr>
              <a:t>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"message": "</a:t>
            </a:r>
            <a:r>
              <a:rPr lang="ko-KR" altLang="en-US" sz="1800" dirty="0">
                <a:latin typeface="+mn-ea"/>
                <a:ea typeface="+mn-ea"/>
              </a:rPr>
              <a:t>새로운 거래 기록이 추가되었습니다</a:t>
            </a:r>
            <a:r>
              <a:rPr lang="en-US" altLang="ko-KR" sz="1800" dirty="0">
                <a:latin typeface="+mn-ea"/>
                <a:ea typeface="+mn-ea"/>
              </a:rPr>
              <a:t>!",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"status": "unread",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created_at</a:t>
            </a:r>
            <a:r>
              <a:rPr lang="en-US" altLang="ko-KR" sz="1800" dirty="0">
                <a:latin typeface="+mn-ea"/>
                <a:ea typeface="+mn-ea"/>
              </a:rPr>
              <a:t>": "2025-03-09T14:50:00Z"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9503495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640DC72-C1F5-0CD9-4EAB-C644739FF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더미 데이터의 형식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93C313-8F36-F367-6E70-6FE52BCB8F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7544" y="958889"/>
            <a:ext cx="8784976" cy="5760640"/>
          </a:xfrm>
        </p:spPr>
        <p:txBody>
          <a:bodyPr/>
          <a:lstStyle/>
          <a:p>
            <a:r>
              <a:rPr lang="en-US" altLang="ko-KR" dirty="0"/>
              <a:t> </a:t>
            </a:r>
            <a:r>
              <a:rPr lang="ko-KR" altLang="en-US" dirty="0"/>
              <a:t>소비자의 데이터를 차트</a:t>
            </a:r>
            <a:r>
              <a:rPr lang="en-US" altLang="ko-KR" dirty="0"/>
              <a:t>, </a:t>
            </a:r>
            <a:r>
              <a:rPr lang="ko-KR" altLang="en-US" dirty="0"/>
              <a:t>대시보드화에 사용 형식 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new_consumers</a:t>
            </a:r>
            <a:r>
              <a:rPr lang="en-US" altLang="ko-KR" dirty="0"/>
              <a:t>:		</a:t>
            </a:r>
            <a:r>
              <a:rPr lang="en-US" altLang="ko-KR" dirty="0" err="1"/>
              <a:t>total_transactions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payment_methods</a:t>
            </a:r>
            <a:r>
              <a:rPr lang="en-US" altLang="ko-KR" dirty="0"/>
              <a:t>:		</a:t>
            </a:r>
            <a:r>
              <a:rPr lang="en-US" altLang="ko-KR" dirty="0" err="1"/>
              <a:t>average_ratings</a:t>
            </a:r>
            <a:r>
              <a:rPr lang="en-US" altLang="ko-KR" dirty="0"/>
              <a:t>: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AD105B0-8DDB-21F5-44E2-8DFFBE337530}"/>
              </a:ext>
            </a:extLst>
          </p:cNvPr>
          <p:cNvSpPr txBox="1"/>
          <p:nvPr/>
        </p:nvSpPr>
        <p:spPr>
          <a:xfrm>
            <a:off x="539552" y="2996952"/>
            <a:ext cx="3672408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"date": "2025-03-09",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new_consumers</a:t>
            </a:r>
            <a:r>
              <a:rPr lang="en-US" altLang="ko-KR" sz="1800" dirty="0">
                <a:latin typeface="+mn-ea"/>
                <a:ea typeface="+mn-ea"/>
              </a:rPr>
              <a:t>": 120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144558-5928-E932-8056-DC396D5587B1}"/>
              </a:ext>
            </a:extLst>
          </p:cNvPr>
          <p:cNvSpPr txBox="1"/>
          <p:nvPr/>
        </p:nvSpPr>
        <p:spPr>
          <a:xfrm>
            <a:off x="539552" y="5084043"/>
            <a:ext cx="4032448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payment_method</a:t>
            </a:r>
            <a:r>
              <a:rPr lang="en-US" altLang="ko-KR" sz="1800" dirty="0">
                <a:latin typeface="+mn-ea"/>
                <a:ea typeface="+mn-ea"/>
              </a:rPr>
              <a:t>": "</a:t>
            </a:r>
            <a:r>
              <a:rPr lang="en-US" altLang="ko-KR" sz="1800" dirty="0" err="1">
                <a:latin typeface="+mn-ea"/>
                <a:ea typeface="+mn-ea"/>
              </a:rPr>
              <a:t>credit_card</a:t>
            </a:r>
            <a:r>
              <a:rPr lang="en-US" altLang="ko-KR" sz="1800" dirty="0">
                <a:latin typeface="+mn-ea"/>
                <a:ea typeface="+mn-ea"/>
              </a:rPr>
              <a:t>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"count": 580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954A75-33C1-8A9C-6C3C-7D00F6DBB6F6}"/>
              </a:ext>
            </a:extLst>
          </p:cNvPr>
          <p:cNvSpPr txBox="1"/>
          <p:nvPr/>
        </p:nvSpPr>
        <p:spPr>
          <a:xfrm>
            <a:off x="5076056" y="2996951"/>
            <a:ext cx="3672408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"month": "2025-03",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total_transactions</a:t>
            </a:r>
            <a:r>
              <a:rPr lang="en-US" altLang="ko-KR" sz="1800" dirty="0">
                <a:latin typeface="+mn-ea"/>
                <a:ea typeface="+mn-ea"/>
              </a:rPr>
              <a:t>": 1320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B26F938-DC3E-B331-834F-CAE9B4615C48}"/>
              </a:ext>
            </a:extLst>
          </p:cNvPr>
          <p:cNvSpPr txBox="1"/>
          <p:nvPr/>
        </p:nvSpPr>
        <p:spPr>
          <a:xfrm>
            <a:off x="5076056" y="5084042"/>
            <a:ext cx="3672408" cy="1200329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{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"month": "2025-03",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  "</a:t>
            </a:r>
            <a:r>
              <a:rPr lang="en-US" altLang="ko-KR" sz="1800" dirty="0" err="1">
                <a:latin typeface="+mn-ea"/>
                <a:ea typeface="+mn-ea"/>
              </a:rPr>
              <a:t>average_rating</a:t>
            </a:r>
            <a:r>
              <a:rPr lang="en-US" altLang="ko-KR" sz="1800" dirty="0">
                <a:latin typeface="+mn-ea"/>
                <a:ea typeface="+mn-ea"/>
              </a:rPr>
              <a:t>": 4.2</a:t>
            </a:r>
          </a:p>
          <a:p>
            <a:pPr marL="0" indent="0">
              <a:buNone/>
            </a:pPr>
            <a:r>
              <a:rPr lang="en-US" altLang="ko-KR" sz="1800" dirty="0">
                <a:latin typeface="+mn-ea"/>
                <a:ea typeface="+mn-ea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820675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1F33E4-2242-EAFC-9BA9-C2BFE1923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더미 데이터의 생성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5F7440A2-2B2C-7899-3026-268E026F982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750" r="1595" b="2699"/>
          <a:stretch/>
        </p:blipFill>
        <p:spPr>
          <a:xfrm>
            <a:off x="250825" y="824172"/>
            <a:ext cx="8785671" cy="6033828"/>
          </a:xfrm>
        </p:spPr>
      </p:pic>
      <p:cxnSp>
        <p:nvCxnSpPr>
          <p:cNvPr id="8" name="직선 연결선 7">
            <a:extLst>
              <a:ext uri="{FF2B5EF4-FFF2-40B4-BE49-F238E27FC236}">
                <a16:creationId xmlns:a16="http://schemas.microsoft.com/office/drawing/2014/main" id="{1384C533-B0F2-A325-546F-02DECA132EF0}"/>
              </a:ext>
            </a:extLst>
          </p:cNvPr>
          <p:cNvCxnSpPr/>
          <p:nvPr/>
        </p:nvCxnSpPr>
        <p:spPr>
          <a:xfrm>
            <a:off x="2843808" y="1124744"/>
            <a:ext cx="100811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6B312423-9F9A-849D-21D0-2A501A80991B}"/>
              </a:ext>
            </a:extLst>
          </p:cNvPr>
          <p:cNvCxnSpPr>
            <a:cxnSpLocks/>
          </p:cNvCxnSpPr>
          <p:nvPr/>
        </p:nvCxnSpPr>
        <p:spPr>
          <a:xfrm>
            <a:off x="611560" y="4653136"/>
            <a:ext cx="1800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1523126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C91C1FE-0690-D480-7DD5-54722645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데이터베이스 생성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11183488-246B-4AD3-533A-B2DA0B39F0E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12160" y="1052736"/>
            <a:ext cx="2397354" cy="1214553"/>
          </a:xfr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3888BEF1-A9B9-621E-C1AB-E1A534C977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9487" y="1052736"/>
            <a:ext cx="5235879" cy="3291674"/>
          </a:xfrm>
          <a:prstGeom prst="rect">
            <a:avLst/>
          </a:prstGeom>
        </p:spPr>
      </p:pic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72AD1A3B-1643-B9BD-077A-336C88B3858B}"/>
              </a:ext>
            </a:extLst>
          </p:cNvPr>
          <p:cNvCxnSpPr>
            <a:cxnSpLocks/>
          </p:cNvCxnSpPr>
          <p:nvPr/>
        </p:nvCxnSpPr>
        <p:spPr>
          <a:xfrm>
            <a:off x="6012160" y="2132856"/>
            <a:ext cx="1800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  <p:pic>
        <p:nvPicPr>
          <p:cNvPr id="14" name="그림 13">
            <a:extLst>
              <a:ext uri="{FF2B5EF4-FFF2-40B4-BE49-F238E27FC236}">
                <a16:creationId xmlns:a16="http://schemas.microsoft.com/office/drawing/2014/main" id="{7F5E74EE-4553-9D5C-75D1-B305AB42C6B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19624"/>
          <a:stretch/>
        </p:blipFill>
        <p:spPr>
          <a:xfrm>
            <a:off x="513901" y="4937187"/>
            <a:ext cx="8277973" cy="1761993"/>
          </a:xfrm>
          <a:prstGeom prst="rect">
            <a:avLst/>
          </a:prstGeom>
        </p:spPr>
      </p:pic>
      <p:cxnSp>
        <p:nvCxnSpPr>
          <p:cNvPr id="15" name="직선 연결선 14">
            <a:extLst>
              <a:ext uri="{FF2B5EF4-FFF2-40B4-BE49-F238E27FC236}">
                <a16:creationId xmlns:a16="http://schemas.microsoft.com/office/drawing/2014/main" id="{904720C1-9103-ECDD-424B-28AFE7F98912}"/>
              </a:ext>
            </a:extLst>
          </p:cNvPr>
          <p:cNvCxnSpPr>
            <a:cxnSpLocks/>
          </p:cNvCxnSpPr>
          <p:nvPr/>
        </p:nvCxnSpPr>
        <p:spPr>
          <a:xfrm>
            <a:off x="3419872" y="5229200"/>
            <a:ext cx="1800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5660CDE5-4F5D-2CB0-FF97-C17DC4767B79}"/>
              </a:ext>
            </a:extLst>
          </p:cNvPr>
          <p:cNvSpPr txBox="1"/>
          <p:nvPr/>
        </p:nvSpPr>
        <p:spPr>
          <a:xfrm>
            <a:off x="683568" y="4437112"/>
            <a:ext cx="53285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latin typeface="+mn-ea"/>
                <a:ea typeface="+mn-ea"/>
              </a:rPr>
              <a:t>데이터 생성</a:t>
            </a:r>
            <a:r>
              <a:rPr lang="en-US" altLang="ko-KR" dirty="0">
                <a:latin typeface="+mn-ea"/>
                <a:ea typeface="+mn-ea"/>
              </a:rPr>
              <a:t>, </a:t>
            </a:r>
            <a:r>
              <a:rPr lang="ko-KR" altLang="en-US" dirty="0">
                <a:latin typeface="+mn-ea"/>
                <a:ea typeface="+mn-ea"/>
              </a:rPr>
              <a:t>실행 시 오류 발생</a:t>
            </a:r>
          </a:p>
        </p:txBody>
      </p:sp>
    </p:spTree>
    <p:extLst>
      <p:ext uri="{BB962C8B-B14F-4D97-AF65-F5344CB8AC3E}">
        <p14:creationId xmlns:p14="http://schemas.microsoft.com/office/powerpoint/2010/main" val="37837536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7E940-E34F-D09E-FDF6-D3F6DE8A2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오류의 원인</a:t>
            </a:r>
          </a:p>
        </p:txBody>
      </p:sp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DD03B99D-6BA1-1C14-F063-CB6D0559AA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r="14078"/>
          <a:stretch/>
        </p:blipFill>
        <p:spPr>
          <a:xfrm>
            <a:off x="179512" y="908720"/>
            <a:ext cx="6854133" cy="582789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940F846E-F53E-7F09-A560-28011675C5B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r="25583"/>
          <a:stretch/>
        </p:blipFill>
        <p:spPr>
          <a:xfrm>
            <a:off x="3119927" y="2024844"/>
            <a:ext cx="6001950" cy="1944216"/>
          </a:xfrm>
          <a:prstGeom prst="rect">
            <a:avLst/>
          </a:prstGeom>
        </p:spPr>
      </p:pic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8B0FF152-26F1-16FF-C325-F951688E5DAF}"/>
              </a:ext>
            </a:extLst>
          </p:cNvPr>
          <p:cNvCxnSpPr>
            <a:cxnSpLocks/>
          </p:cNvCxnSpPr>
          <p:nvPr/>
        </p:nvCxnSpPr>
        <p:spPr>
          <a:xfrm>
            <a:off x="4211960" y="3007356"/>
            <a:ext cx="1908942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  <p:cxnSp>
        <p:nvCxnSpPr>
          <p:cNvPr id="7" name="직선 연결선 6">
            <a:extLst>
              <a:ext uri="{FF2B5EF4-FFF2-40B4-BE49-F238E27FC236}">
                <a16:creationId xmlns:a16="http://schemas.microsoft.com/office/drawing/2014/main" id="{AFD70AEB-8E58-0379-B345-7461A16E57C1}"/>
              </a:ext>
            </a:extLst>
          </p:cNvPr>
          <p:cNvCxnSpPr>
            <a:cxnSpLocks/>
          </p:cNvCxnSpPr>
          <p:nvPr/>
        </p:nvCxnSpPr>
        <p:spPr>
          <a:xfrm>
            <a:off x="4067944" y="3969060"/>
            <a:ext cx="1800200" cy="0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</a:ln>
          <a:effectLst/>
        </p:spPr>
      </p:cxnSp>
    </p:spTree>
    <p:extLst>
      <p:ext uri="{BB962C8B-B14F-4D97-AF65-F5344CB8AC3E}">
        <p14:creationId xmlns:p14="http://schemas.microsoft.com/office/powerpoint/2010/main" val="2705072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9E44CA-28C0-87CF-870F-C8DE3D44D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B9B60C-2C88-7538-91F2-C407AB675D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2400" dirty="0"/>
              <a:t>참고한 블로그</a:t>
            </a:r>
            <a:r>
              <a:rPr lang="en-US" altLang="ko-KR" sz="2400" dirty="0"/>
              <a:t>: </a:t>
            </a:r>
          </a:p>
          <a:p>
            <a:pPr marL="0" indent="0">
              <a:buNone/>
            </a:pPr>
            <a:r>
              <a:rPr lang="en-US" altLang="ko-KR" sz="2400" dirty="0"/>
              <a:t>https://velog.io/@chb1828/spring-CommandLineRunner-add-db-dummy-data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11671932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5939886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실사대비 보고자료 8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3399FF"/>
      </a:hlink>
      <a:folHlink>
        <a:srgbClr val="B2B2B2"/>
      </a:folHlink>
    </a:clrScheme>
    <a:fontScheme name="실사대비 보고자료">
      <a:majorFont>
        <a:latin typeface="HY헤드라인M"/>
        <a:ea typeface="HY헤드라인M"/>
        <a:cs typeface=""/>
      </a:majorFont>
      <a:minorFont>
        <a:latin typeface="HY헤드라인M"/>
        <a:ea typeface="HY헤드라인M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rtlCol="0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spDef>
    <a:lnDef>
      <a:spPr>
        <a:solidFill>
          <a:schemeClr val="accent1"/>
        </a:solidFill>
        <a:ln w="28575" cap="flat" cmpd="sng" algn="ctr">
          <a:solidFill>
            <a:schemeClr val="tx1"/>
          </a:solidFill>
          <a:prstDash val="solid"/>
          <a:round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None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latin typeface="Times New Roman"/>
            <a:ea typeface="굴림"/>
          </a:defRPr>
        </a:defPPr>
      </a:lst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실사대비 보고자료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17922</TotalTime>
  <Words>436</Words>
  <Application>Microsoft Office PowerPoint</Application>
  <PresentationFormat>화면 슬라이드 쇼(4:3)</PresentationFormat>
  <Paragraphs>120</Paragraphs>
  <Slides>11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HY헤드라인M</vt:lpstr>
      <vt:lpstr>굴림</vt:lpstr>
      <vt:lpstr>맑은 고딕</vt:lpstr>
      <vt:lpstr>Arial</vt:lpstr>
      <vt:lpstr>Symbol</vt:lpstr>
      <vt:lpstr>Times New Roman</vt:lpstr>
      <vt:lpstr>Wingdings</vt:lpstr>
      <vt:lpstr>Default Theme</vt:lpstr>
      <vt:lpstr>논문 프로젝트</vt:lpstr>
      <vt:lpstr>목차</vt:lpstr>
      <vt:lpstr>애플리케이션의 기능</vt:lpstr>
      <vt:lpstr>더미 데이터의 형식</vt:lpstr>
      <vt:lpstr>더미 데이터의 형식</vt:lpstr>
      <vt:lpstr>더미 데이터의 형식</vt:lpstr>
      <vt:lpstr>더미 데이터의 생성</vt:lpstr>
      <vt:lpstr>데이터베이스 생성</vt:lpstr>
      <vt:lpstr>오류의 원인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1234</dc:title>
  <dc:creator>Nineking</dc:creator>
  <cp:lastModifiedBy>유동균</cp:lastModifiedBy>
  <cp:revision>693</cp:revision>
  <cp:lastPrinted>2016-11-01T07:29:09Z</cp:lastPrinted>
  <dcterms:created xsi:type="dcterms:W3CDTF">2013-09-09T21:16:08Z</dcterms:created>
  <dcterms:modified xsi:type="dcterms:W3CDTF">2025-03-10T10:33:33Z</dcterms:modified>
</cp:coreProperties>
</file>