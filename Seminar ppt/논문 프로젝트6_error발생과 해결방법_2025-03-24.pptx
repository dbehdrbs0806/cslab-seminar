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58" r:id="rId2"/>
    <p:sldId id="259" r:id="rId3"/>
    <p:sldId id="261" r:id="rId4"/>
    <p:sldId id="260" r:id="rId5"/>
    <p:sldId id="266" r:id="rId6"/>
    <p:sldId id="267" r:id="rId7"/>
    <p:sldId id="262" r:id="rId8"/>
    <p:sldId id="263" r:id="rId9"/>
    <p:sldId id="264" r:id="rId10"/>
    <p:sldId id="257" r:id="rId11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찬민" initials="배" lastIdx="0" clrIdx="0"/>
  <p:cmAuthor id="2" name="한설 고" initials="한고" lastIdx="2" clrIdx="1">
    <p:extLst>
      <p:ext uri="{19B8F6BF-5375-455C-9EA6-DF929625EA0E}">
        <p15:presenceInfo xmlns:p15="http://schemas.microsoft.com/office/powerpoint/2012/main" userId="2892c982dbaa56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B9B9B9"/>
    <a:srgbClr val="00CC99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83657" autoAdjust="0"/>
  </p:normalViewPr>
  <p:slideViewPr>
    <p:cSldViewPr>
      <p:cViewPr varScale="1">
        <p:scale>
          <a:sx n="88" d="100"/>
          <a:sy n="88" d="100"/>
        </p:scale>
        <p:origin x="65" y="5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432" y="-10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78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r">
              <a:defRPr sz="1200"/>
            </a:lvl1pPr>
          </a:lstStyle>
          <a:p>
            <a:fld id="{57764B8E-7EC0-4B59-8DA5-E04CAE3DB5F2}" type="datetimeFigureOut">
              <a:rPr lang="ko-KR" altLang="en-US" smtClean="0"/>
              <a:t>2025-03-30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64" tIns="44632" rIns="89264" bIns="4463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9" y="4690502"/>
            <a:ext cx="5438759" cy="4443878"/>
          </a:xfrm>
          <a:prstGeom prst="rect">
            <a:avLst/>
          </a:prstGeom>
        </p:spPr>
        <p:txBody>
          <a:bodyPr vert="horz" lIns="89264" tIns="44632" rIns="89264" bIns="4463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78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r">
              <a:defRPr sz="1200"/>
            </a:lvl1pPr>
          </a:lstStyle>
          <a:p>
            <a:fld id="{420F09F9-D812-4758-8566-A65BCCCBD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9545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887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120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752600"/>
            <a:ext cx="7772400" cy="1981200"/>
          </a:xfrm>
        </p:spPr>
        <p:txBody>
          <a:bodyPr anchor="ctr" anchorCtr="1">
            <a:normAutofit/>
          </a:bodyPr>
          <a:lstStyle>
            <a:lvl1pPr algn="ctr">
              <a:defRPr/>
            </a:lvl1pPr>
          </a:lstStyle>
          <a:p>
            <a:r>
              <a:rPr lang="ko-KR" altLang="en-US" dirty="0"/>
              <a:t>세미나 제목</a:t>
            </a:r>
            <a:endParaRPr lang="en-US" altLang="ko-KR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2819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23/12/26</a:t>
            </a:r>
            <a:endParaRPr lang="ko-K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87A7431B-603E-467D-882E-3062B6363EC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 userDrawn="1"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9" name="Text Box 15"/>
          <p:cNvSpPr txBox="1">
            <a:spLocks noChangeArrowheads="1"/>
          </p:cNvSpPr>
          <p:nvPr userDrawn="1"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20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" name="Rectangle 4"/>
          <p:cNvSpPr>
            <a:spLocks noChangeArrowheads="1"/>
          </p:cNvSpPr>
          <p:nvPr userDrawn="1"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22" name="Rectangle 5"/>
          <p:cNvSpPr>
            <a:spLocks noChangeArrowheads="1"/>
          </p:cNvSpPr>
          <p:nvPr userDrawn="1"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650" y="158820"/>
            <a:ext cx="8137525" cy="707886"/>
          </a:xfrm>
        </p:spPr>
        <p:txBody>
          <a:bodyPr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28675" y="1052513"/>
            <a:ext cx="3919538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00613" y="1052513"/>
            <a:ext cx="3919537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2031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en-US" altLang="ko-KR" sz="1800" b="1" dirty="0">
                <a:latin typeface="Arial"/>
                <a:ea typeface="굴림"/>
              </a:rPr>
              <a:t>Email : a67422830@gmail.com</a:t>
            </a:r>
            <a:endParaRPr lang="ko-KR" altLang="en-US" sz="1800" b="1" dirty="0">
              <a:latin typeface="Arial"/>
              <a:ea typeface="굴림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9588" y="188913"/>
            <a:ext cx="2033587" cy="6135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55650" y="188913"/>
            <a:ext cx="5951538" cy="6135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175432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137525" cy="6477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ko-KR" altLang="en-US"/>
              <a:t>마스터 제목 유형을 편집하려면 누르십시오</a:t>
            </a:r>
            <a:r>
              <a:rPr lang="en-US" altLang="ko-KR"/>
              <a:t>.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5" y="1052513"/>
            <a:ext cx="7991475" cy="52720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세째 수준</a:t>
            </a:r>
          </a:p>
          <a:p>
            <a:pPr lvl="3"/>
            <a:r>
              <a:rPr lang="ko-KR" altLang="en-US"/>
              <a:t>네째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>
          <a:xfrm>
            <a:off x="684213" y="908050"/>
            <a:ext cx="8459787" cy="698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>
          <a:xfrm>
            <a:off x="6988175" y="6477000"/>
            <a:ext cx="1905000" cy="3810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/>
          <a:lstStyle/>
          <a:p>
            <a:pPr algn="r"/>
            <a:fld id="{467224BF-58AA-4D3F-AC6F-AA05367478A1}" type="slidenum">
              <a:rPr lang="en-US" altLang="ko-KR" sz="1400"/>
              <a:pPr algn="r"/>
              <a:t>‹#›</a:t>
            </a:fld>
            <a:endParaRPr lang="en-US" altLang="ko-KR" sz="14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95" name="Text Box 19"/>
          <p:cNvSpPr txBox="1">
            <a:spLocks noChangeArrowheads="1"/>
          </p:cNvSpPr>
          <p:nvPr/>
        </p:nvSpPr>
        <p:spPr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033" name="Picture 21"/>
          <p:cNvPicPr>
            <a:picLocks noChangeAspect="1" noChangeArrowheads="1"/>
          </p:cNvPicPr>
          <p:nvPr/>
        </p:nvPicPr>
        <p:blipFill rotWithShape="1">
          <a:blip r:embed="rId14" cstate="print"/>
          <a:srcRect/>
          <a:stretch>
            <a:fillRect/>
          </a:stretch>
        </p:blipFill>
        <p:spPr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4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80000"/>
        <a:buFont typeface="Wingdings"/>
        <a:buChar char="u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110000"/>
        <a:buFont typeface="Wingdings"/>
        <a:buChar char="ü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A242A-9D6D-D5F0-49FA-D7F64E0A8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59FBF-CA7E-38AB-74F9-500D0F105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25/03/25</a:t>
            </a:r>
          </a:p>
        </p:txBody>
      </p:sp>
    </p:spTree>
    <p:extLst>
      <p:ext uri="{BB962C8B-B14F-4D97-AF65-F5344CB8AC3E}">
        <p14:creationId xmlns:p14="http://schemas.microsoft.com/office/powerpoint/2010/main" val="514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86CDC-20D2-563F-2B2A-B6BE5B47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A0CC9-B749-2242-7365-0E9537911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088" y="1124744"/>
            <a:ext cx="8426648" cy="527208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프로젝트의 현 상황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프로젝트의 방향 및 논문의 제목</a:t>
            </a:r>
            <a:r>
              <a:rPr lang="en-US" altLang="ko-KR" dirty="0"/>
              <a:t>(</a:t>
            </a:r>
            <a:r>
              <a:rPr lang="ko-KR" altLang="en-US" dirty="0"/>
              <a:t>주제</a:t>
            </a:r>
            <a:r>
              <a:rPr lang="en-US" altLang="ko-KR" dirty="0"/>
              <a:t>)</a:t>
            </a:r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사용할 아키텍처 그림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04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24C02-6E1F-6432-3509-A3F0416E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현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E7E33-7DE0-485C-6BE7-3966D551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052513"/>
            <a:ext cx="7991475" cy="612090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 Config file</a:t>
            </a:r>
            <a:r>
              <a:rPr lang="ko-KR" altLang="en-US" sz="2400" dirty="0"/>
              <a:t>를 </a:t>
            </a:r>
            <a:r>
              <a:rPr lang="en-US" altLang="ko-KR" sz="2400" dirty="0" err="1"/>
              <a:t>Github</a:t>
            </a:r>
            <a:r>
              <a:rPr lang="ko-KR" altLang="en-US" sz="2400" dirty="0"/>
              <a:t>에 넣었기에 </a:t>
            </a:r>
            <a:r>
              <a:rPr lang="en-US" altLang="ko-KR" sz="2400" dirty="0"/>
              <a:t>Spring Cloud </a:t>
            </a:r>
            <a:r>
              <a:rPr lang="ko-KR" altLang="en-US" sz="2400" dirty="0"/>
              <a:t>실행 시 </a:t>
            </a:r>
            <a:r>
              <a:rPr lang="en-US" altLang="ko-KR" sz="2400" dirty="0"/>
              <a:t>Config</a:t>
            </a:r>
            <a:r>
              <a:rPr lang="ko-KR" altLang="en-US" sz="2400" dirty="0"/>
              <a:t> 내용 불러와 적용함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Eureka</a:t>
            </a:r>
            <a:r>
              <a:rPr lang="ko-KR" altLang="en-US" sz="2400" dirty="0"/>
              <a:t>에 반영 등록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ko-KR" altLang="en-US" sz="2400" dirty="0"/>
              <a:t> </a:t>
            </a:r>
            <a:r>
              <a:rPr lang="en-US" altLang="ko-KR" sz="2400" dirty="0"/>
              <a:t>event-service</a:t>
            </a:r>
            <a:r>
              <a:rPr lang="ko-KR" altLang="en-US" sz="2400" dirty="0"/>
              <a:t>와 </a:t>
            </a:r>
            <a:r>
              <a:rPr lang="en-US" altLang="ko-KR" sz="2400" dirty="0"/>
              <a:t>analytics-service</a:t>
            </a:r>
            <a:r>
              <a:rPr lang="ko-KR" altLang="en-US" sz="2400" dirty="0"/>
              <a:t>가 </a:t>
            </a:r>
            <a:r>
              <a:rPr lang="ko-KR" altLang="en-US" sz="2400" dirty="0" err="1"/>
              <a:t>재시작되는</a:t>
            </a:r>
            <a:r>
              <a:rPr lang="ko-KR" altLang="en-US" sz="2400" dirty="0"/>
              <a:t> </a:t>
            </a:r>
            <a:r>
              <a:rPr lang="ko-KR" altLang="en-US" sz="2400" dirty="0">
                <a:solidFill>
                  <a:srgbClr val="FF0000"/>
                </a:solidFill>
              </a:rPr>
              <a:t>오류 발생 </a:t>
            </a:r>
            <a:r>
              <a:rPr lang="en-US" altLang="ko-KR" sz="2400" dirty="0"/>
              <a:t>(</a:t>
            </a:r>
            <a:r>
              <a:rPr lang="ko-KR" altLang="en-US" sz="2400" u="sng" dirty="0"/>
              <a:t>예상 </a:t>
            </a:r>
            <a:r>
              <a:rPr lang="en-US" altLang="ko-KR" sz="2400" u="sng" dirty="0" err="1"/>
              <a:t>rabbitMQ</a:t>
            </a:r>
            <a:r>
              <a:rPr lang="ko-KR" altLang="en-US" sz="2400" u="sng" dirty="0"/>
              <a:t>의 사용에 오류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=&gt;  </a:t>
            </a:r>
            <a:r>
              <a:rPr lang="en-US" altLang="ko-KR" sz="2000" dirty="0"/>
              <a:t>1. docker-compose</a:t>
            </a:r>
            <a:r>
              <a:rPr lang="ko-KR" altLang="en-US" sz="2000" dirty="0"/>
              <a:t>의 순서 변경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2. </a:t>
            </a:r>
            <a:r>
              <a:rPr lang="en-US" altLang="ko-KR" sz="2000" dirty="0" err="1"/>
              <a:t>Github</a:t>
            </a:r>
            <a:r>
              <a:rPr lang="ko-KR" altLang="en-US" sz="2000" dirty="0"/>
              <a:t>에 </a:t>
            </a:r>
            <a:r>
              <a:rPr lang="en-US" altLang="ko-KR" sz="2000" dirty="0"/>
              <a:t>Config</a:t>
            </a:r>
            <a:r>
              <a:rPr lang="ko-KR" altLang="en-US" sz="2000" dirty="0"/>
              <a:t>파일의 유무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3. </a:t>
            </a:r>
            <a:r>
              <a:rPr lang="ko-KR" altLang="en-US" sz="2000" dirty="0"/>
              <a:t>필요한 의존성 및 라이브러리 추가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4. </a:t>
            </a:r>
            <a:r>
              <a:rPr lang="en-US" altLang="ko-KR" sz="2000" dirty="0" err="1"/>
              <a:t>dockerfile</a:t>
            </a:r>
            <a:r>
              <a:rPr lang="ko-KR" altLang="en-US" sz="2000" dirty="0"/>
              <a:t>에서 </a:t>
            </a:r>
            <a:r>
              <a:rPr lang="en-US" altLang="ko-KR" sz="2000" dirty="0"/>
              <a:t>COPY </a:t>
            </a:r>
          </a:p>
          <a:p>
            <a:pPr marL="0" indent="0">
              <a:buNone/>
            </a:pPr>
            <a:r>
              <a:rPr lang="en-US" altLang="ko-KR" sz="2000" dirty="0"/>
              <a:t>build/libs/eureka-server-0.0.1-SNAPSHOT.jar </a:t>
            </a:r>
            <a:r>
              <a:rPr lang="en-US" altLang="ko-KR" sz="2000" dirty="0" err="1"/>
              <a:t>app.ja</a:t>
            </a:r>
            <a:r>
              <a:rPr lang="en-US" altLang="ko-KR" sz="2000" dirty="0"/>
              <a:t> </a:t>
            </a:r>
            <a:r>
              <a:rPr lang="ko-KR" altLang="en-US" sz="2000" dirty="0"/>
              <a:t>지정 진행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5. jar</a:t>
            </a:r>
            <a:r>
              <a:rPr lang="ko-KR" altLang="en-US" sz="2000" dirty="0"/>
              <a:t> 재생성 후 이미지 삭제 후 다시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1781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1821-70B4-7431-F87E-638ED683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현 상황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F1726-D211-475C-68AC-B99CF343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Config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52A42B-24D9-1FBC-3E30-A18960C1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5" t="1486" r="1569" b="4896"/>
          <a:stretch/>
        </p:blipFill>
        <p:spPr>
          <a:xfrm>
            <a:off x="339495" y="1556792"/>
            <a:ext cx="8608024" cy="440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2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87DF6-4F01-88B3-14B6-25F6BAC5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79457"/>
            <a:ext cx="8137525" cy="707886"/>
          </a:xfrm>
        </p:spPr>
        <p:txBody>
          <a:bodyPr/>
          <a:lstStyle/>
          <a:p>
            <a:r>
              <a:rPr lang="ko-KR" altLang="en-US"/>
              <a:t>프로젝트 현 상황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20B4D-5266-64B3-2368-2223A973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854" y="980728"/>
            <a:ext cx="8712968" cy="56260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dirty="0"/>
              <a:t>결국 현재 </a:t>
            </a:r>
            <a:r>
              <a:rPr lang="ko-KR" altLang="en-US" sz="2400" dirty="0" err="1"/>
              <a:t>재시작되는</a:t>
            </a:r>
            <a:r>
              <a:rPr lang="ko-KR" altLang="en-US" sz="2400" dirty="0"/>
              <a:t> 오류가 발생하고 잘 안되는 상황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>
                <a:solidFill>
                  <a:srgbClr val="0070C0"/>
                </a:solidFill>
              </a:rPr>
              <a:t>해결방안</a:t>
            </a:r>
            <a:endParaRPr lang="en-US" altLang="ko-KR" sz="2400" dirty="0">
              <a:solidFill>
                <a:srgbClr val="0070C0"/>
              </a:solidFill>
            </a:endParaRPr>
          </a:p>
          <a:p>
            <a:r>
              <a:rPr lang="en-US" altLang="ko-KR" sz="2400" dirty="0"/>
              <a:t> Gradle =&gt; Maven</a:t>
            </a:r>
          </a:p>
          <a:p>
            <a:endParaRPr lang="en-US" altLang="ko-KR" sz="2400" dirty="0"/>
          </a:p>
          <a:p>
            <a:r>
              <a:rPr lang="en-US" altLang="ko-KR" sz="2400" dirty="0"/>
              <a:t> Spring Cloud</a:t>
            </a:r>
            <a:r>
              <a:rPr lang="ko-KR" altLang="en-US" sz="2400" dirty="0"/>
              <a:t>의 버전 낮추기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ko-KR" altLang="en-US" sz="2400" dirty="0"/>
              <a:t>삭제 후 다시 생성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ko-KR" altLang="en-US" sz="2400" dirty="0"/>
              <a:t>기존 </a:t>
            </a:r>
            <a:r>
              <a:rPr lang="en-US" altLang="ko-KR" sz="2400" dirty="0" err="1">
                <a:solidFill>
                  <a:srgbClr val="FF0000"/>
                </a:solidFill>
              </a:rPr>
              <a:t>Event.service</a:t>
            </a:r>
            <a:r>
              <a:rPr lang="en-US" altLang="ko-KR" sz="2400" dirty="0">
                <a:solidFill>
                  <a:srgbClr val="FF0000"/>
                </a:solidFill>
              </a:rPr>
              <a:t> </a:t>
            </a:r>
            <a:r>
              <a:rPr lang="ko-KR" altLang="en-US" sz="2400" dirty="0"/>
              <a:t>와 </a:t>
            </a:r>
            <a:r>
              <a:rPr lang="en-US" altLang="ko-KR" sz="2400" dirty="0" err="1">
                <a:solidFill>
                  <a:srgbClr val="FF0000"/>
                </a:solidFill>
              </a:rPr>
              <a:t>analytics.service</a:t>
            </a:r>
            <a:r>
              <a:rPr lang="ko-KR" altLang="en-US" sz="2400" dirty="0"/>
              <a:t>를 통합하고 </a:t>
            </a:r>
            <a:r>
              <a:rPr lang="ko-KR" altLang="en-US" sz="2400" dirty="0" err="1"/>
              <a:t>메세지큐의</a:t>
            </a:r>
            <a:r>
              <a:rPr lang="ko-KR" altLang="en-US" sz="2400" dirty="0"/>
              <a:t> 사용 고민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애플리케이션의 프론트는 배제 후 스토리지의 오케스트레이션에 중점 </a:t>
            </a:r>
            <a:r>
              <a:rPr lang="en-US" altLang="ko-KR" sz="2400" dirty="0"/>
              <a:t>(Rook-</a:t>
            </a:r>
            <a:r>
              <a:rPr lang="en-US" altLang="ko-KR" sz="2400" dirty="0" err="1"/>
              <a:t>Ceph</a:t>
            </a:r>
            <a:r>
              <a:rPr lang="en-US" altLang="ko-KR" sz="2400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436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9E7E3-DCE9-8417-7F72-95116A4D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쿠버네티스에서</a:t>
            </a:r>
            <a:r>
              <a:rPr lang="ko-KR" altLang="en-US" dirty="0"/>
              <a:t> </a:t>
            </a:r>
            <a:r>
              <a:rPr lang="en-US" altLang="ko-KR" dirty="0"/>
              <a:t>Rook-</a:t>
            </a:r>
            <a:r>
              <a:rPr lang="en-US" altLang="ko-KR" dirty="0" err="1"/>
              <a:t>Ceph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6785E-E69D-4054-0607-990140CD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7" y="4674904"/>
            <a:ext cx="8209607" cy="2138472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데이터베이스</a:t>
            </a:r>
            <a:r>
              <a:rPr lang="en-US" altLang="ko-KR" sz="2000" dirty="0"/>
              <a:t>(</a:t>
            </a:r>
            <a:r>
              <a:rPr lang="ko-KR" altLang="en-US" sz="2000" dirty="0"/>
              <a:t>스토리지</a:t>
            </a:r>
            <a:r>
              <a:rPr lang="en-US" altLang="ko-KR" sz="2000" dirty="0"/>
              <a:t>) </a:t>
            </a:r>
            <a:r>
              <a:rPr lang="ko-KR" altLang="en-US" sz="2000" dirty="0"/>
              <a:t>분산 오케스트레이션 솔루션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=&gt; </a:t>
            </a:r>
            <a:r>
              <a:rPr lang="ko-KR" altLang="en-US" sz="2000" dirty="0"/>
              <a:t>가용성</a:t>
            </a:r>
            <a:r>
              <a:rPr lang="en-US" altLang="ko-KR" sz="2000" dirty="0"/>
              <a:t>(HA) , </a:t>
            </a:r>
            <a:r>
              <a:rPr lang="ko-KR" altLang="en-US" sz="2000" dirty="0"/>
              <a:t>자동복구 가능한 오픈소스 스토리지 시스템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쿠버네티스</a:t>
            </a:r>
            <a:r>
              <a:rPr lang="ko-KR" altLang="en-US" sz="1800" dirty="0"/>
              <a:t> 위에서 사용할 수 있으며 </a:t>
            </a:r>
            <a:r>
              <a:rPr lang="en-US" altLang="ko-KR" sz="1800" dirty="0" err="1"/>
              <a:t>Ceph</a:t>
            </a:r>
            <a:r>
              <a:rPr lang="en-US" altLang="ko-KR" sz="1800" dirty="0"/>
              <a:t>(</a:t>
            </a:r>
            <a:r>
              <a:rPr lang="ko-KR" altLang="en-US" sz="1800" dirty="0"/>
              <a:t>저장소</a:t>
            </a:r>
            <a:r>
              <a:rPr lang="en-US" altLang="ko-KR" sz="1800" dirty="0"/>
              <a:t>)</a:t>
            </a:r>
            <a:r>
              <a:rPr lang="ko-KR" altLang="en-US" sz="1800" dirty="0"/>
              <a:t>를 가능하게 </a:t>
            </a:r>
            <a:r>
              <a:rPr lang="ko-KR" altLang="en-US" sz="1800" dirty="0" err="1"/>
              <a:t>해주는게</a:t>
            </a:r>
            <a:r>
              <a:rPr lang="ko-KR" altLang="en-US" sz="1800" dirty="0"/>
              <a:t> </a:t>
            </a:r>
            <a:r>
              <a:rPr lang="en-US" altLang="ko-KR" sz="1800" dirty="0"/>
              <a:t>Rook</a:t>
            </a:r>
            <a:r>
              <a:rPr lang="ko-KR" altLang="en-US" sz="1800" dirty="0"/>
              <a:t>가 </a:t>
            </a:r>
            <a:r>
              <a:rPr lang="en-US" altLang="ko-KR" sz="1800" dirty="0"/>
              <a:t>Kubernetes </a:t>
            </a:r>
            <a:r>
              <a:rPr lang="ko-KR" altLang="en-US" sz="1800" dirty="0"/>
              <a:t>리소스로 접근해서 작동함</a:t>
            </a: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077D58-CE48-060C-D13F-36AF2A78D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8049393" cy="358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1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F5808-E855-1885-D852-F39B9706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논문 주제 및 제목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0C1C975-71CE-6D00-204E-A9A4A4A6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65" y="1081820"/>
            <a:ext cx="8281540" cy="5626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논문 제목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sz="2400" dirty="0"/>
              <a:t>Spring cloud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dirty="0"/>
              <a:t>통한 클라우드 인프라 구성 및 개발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 </a:t>
            </a:r>
            <a:r>
              <a:rPr lang="ko-KR" altLang="en-US" sz="2400" dirty="0" err="1"/>
              <a:t>마이크로서비스를</a:t>
            </a:r>
            <a:r>
              <a:rPr lang="ko-KR" altLang="en-US" sz="2400" dirty="0"/>
              <a:t> 통한 </a:t>
            </a:r>
            <a:r>
              <a:rPr lang="ko-KR" altLang="en-US" sz="2400" dirty="0" err="1"/>
              <a:t>쿠버네티스의</a:t>
            </a:r>
            <a:r>
              <a:rPr lang="ko-KR" altLang="en-US" sz="2400" dirty="0"/>
              <a:t> 클라우드 인프라 구성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주제가 변경된다면 제목</a:t>
            </a: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sz="2400" dirty="0"/>
              <a:t> Spring Cloud</a:t>
            </a:r>
            <a:r>
              <a:rPr lang="ko-KR" altLang="en-US" sz="2400" dirty="0"/>
              <a:t>기반 </a:t>
            </a:r>
            <a:r>
              <a:rPr lang="ko-KR" altLang="en-US" sz="2400" dirty="0" err="1"/>
              <a:t>무중단</a:t>
            </a:r>
            <a:r>
              <a:rPr lang="ko-KR" altLang="en-US" sz="2400" dirty="0"/>
              <a:t> 스토리지 </a:t>
            </a:r>
            <a:r>
              <a:rPr lang="en-US" altLang="ko-KR" sz="2400" dirty="0"/>
              <a:t>Rook-</a:t>
            </a:r>
            <a:r>
              <a:rPr lang="en-US" altLang="ko-KR" sz="2400" dirty="0" err="1"/>
              <a:t>Ceph</a:t>
            </a:r>
            <a:r>
              <a:rPr lang="en-US" altLang="ko-KR" sz="2400" dirty="0"/>
              <a:t> </a:t>
            </a:r>
            <a:r>
              <a:rPr lang="ko-KR" altLang="en-US" sz="2400" dirty="0"/>
              <a:t>아키텍처 설계</a:t>
            </a:r>
            <a:endParaRPr lang="en-US" altLang="ko-KR" sz="24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3067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ED4C3-B80C-C9C2-2F8C-0A24275DF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ABD28-CDFC-844A-6E20-1CAFAF17E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4" y="1090280"/>
            <a:ext cx="7991475" cy="5272087"/>
          </a:xfrm>
        </p:spPr>
        <p:txBody>
          <a:bodyPr/>
          <a:lstStyle/>
          <a:p>
            <a:r>
              <a:rPr lang="en-US" altLang="ko-KR" dirty="0"/>
              <a:t> MSA </a:t>
            </a:r>
            <a:r>
              <a:rPr lang="ko-KR" altLang="en-US" dirty="0"/>
              <a:t>의 구조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75DAF-32B7-6AFB-DE05-F37A56EAEDD6}"/>
              </a:ext>
            </a:extLst>
          </p:cNvPr>
          <p:cNvSpPr txBox="1"/>
          <p:nvPr/>
        </p:nvSpPr>
        <p:spPr>
          <a:xfrm>
            <a:off x="3185635" y="2040551"/>
            <a:ext cx="266400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config-server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49609-3621-C011-277D-CC391EAE3D16}"/>
              </a:ext>
            </a:extLst>
          </p:cNvPr>
          <p:cNvSpPr txBox="1"/>
          <p:nvPr/>
        </p:nvSpPr>
        <p:spPr>
          <a:xfrm>
            <a:off x="3185635" y="5589599"/>
            <a:ext cx="266400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Service-register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86761-DF57-4F6B-0EC7-6BCD089527C8}"/>
              </a:ext>
            </a:extLst>
          </p:cNvPr>
          <p:cNvSpPr txBox="1"/>
          <p:nvPr/>
        </p:nvSpPr>
        <p:spPr>
          <a:xfrm>
            <a:off x="5280222" y="3081401"/>
            <a:ext cx="266400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Microservices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9FEDC-AD3E-633E-0929-FEB87F2D2FFE}"/>
              </a:ext>
            </a:extLst>
          </p:cNvPr>
          <p:cNvSpPr txBox="1"/>
          <p:nvPr/>
        </p:nvSpPr>
        <p:spPr>
          <a:xfrm>
            <a:off x="5298075" y="4625092"/>
            <a:ext cx="266400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Microservices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82D50-A3B4-31DB-4C04-F55E2928EFAB}"/>
              </a:ext>
            </a:extLst>
          </p:cNvPr>
          <p:cNvSpPr txBox="1"/>
          <p:nvPr/>
        </p:nvSpPr>
        <p:spPr>
          <a:xfrm>
            <a:off x="1681275" y="3815075"/>
            <a:ext cx="266400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API-Gateway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DCD9F23-43AD-B22F-7470-42E8FD502C98}"/>
              </a:ext>
            </a:extLst>
          </p:cNvPr>
          <p:cNvCxnSpPr>
            <a:cxnSpLocks/>
          </p:cNvCxnSpPr>
          <p:nvPr/>
        </p:nvCxnSpPr>
        <p:spPr>
          <a:xfrm>
            <a:off x="4517635" y="2502217"/>
            <a:ext cx="0" cy="30873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DEEA69-43E3-7F1C-C7FB-10E832C82748}"/>
              </a:ext>
            </a:extLst>
          </p:cNvPr>
          <p:cNvCxnSpPr>
            <a:cxnSpLocks/>
          </p:cNvCxnSpPr>
          <p:nvPr/>
        </p:nvCxnSpPr>
        <p:spPr>
          <a:xfrm>
            <a:off x="4347361" y="4032414"/>
            <a:ext cx="170274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</a:ln>
          <a:effectLst/>
        </p:spPr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F3A9602-F718-9144-FEB8-892F6ADB552A}"/>
              </a:ext>
            </a:extLst>
          </p:cNvPr>
          <p:cNvGrpSpPr/>
          <p:nvPr/>
        </p:nvGrpSpPr>
        <p:grpSpPr>
          <a:xfrm>
            <a:off x="392175" y="2786597"/>
            <a:ext cx="895896" cy="2664000"/>
            <a:chOff x="715825" y="2564904"/>
            <a:chExt cx="895896" cy="266400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69638F-CD38-C5C6-A690-E2A49E6B24F0}"/>
                </a:ext>
              </a:extLst>
            </p:cNvPr>
            <p:cNvSpPr txBox="1"/>
            <p:nvPr/>
          </p:nvSpPr>
          <p:spPr>
            <a:xfrm>
              <a:off x="774722" y="2564904"/>
              <a:ext cx="730337" cy="266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ko-KR" dirty="0">
                <a:latin typeface="+mn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46F8BB-AB0D-8228-97D1-DEC982834B79}"/>
                </a:ext>
              </a:extLst>
            </p:cNvPr>
            <p:cNvSpPr txBox="1"/>
            <p:nvPr/>
          </p:nvSpPr>
          <p:spPr>
            <a:xfrm>
              <a:off x="715825" y="3613732"/>
              <a:ext cx="8958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+mj-lt"/>
                </a:rPr>
                <a:t>client</a:t>
              </a:r>
              <a:endParaRPr lang="ko-KR" altLang="en-US" sz="2000" dirty="0">
                <a:latin typeface="+mj-lt"/>
              </a:endParaRPr>
            </a:p>
          </p:txBody>
        </p:sp>
      </p:grpSp>
      <p:sp>
        <p:nvSpPr>
          <p:cNvPr id="35" name="왼쪽 중괄호 34">
            <a:extLst>
              <a:ext uri="{FF2B5EF4-FFF2-40B4-BE49-F238E27FC236}">
                <a16:creationId xmlns:a16="http://schemas.microsoft.com/office/drawing/2014/main" id="{99BAD6F2-ECD4-8206-A893-E7F1EED8059A}"/>
              </a:ext>
            </a:extLst>
          </p:cNvPr>
          <p:cNvSpPr/>
          <p:nvPr/>
        </p:nvSpPr>
        <p:spPr>
          <a:xfrm>
            <a:off x="1309028" y="2333032"/>
            <a:ext cx="489448" cy="3384599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DEEEF6-6714-84AB-844E-5106270ED476}"/>
              </a:ext>
            </a:extLst>
          </p:cNvPr>
          <p:cNvSpPr txBox="1"/>
          <p:nvPr/>
        </p:nvSpPr>
        <p:spPr>
          <a:xfrm>
            <a:off x="6363458" y="1902052"/>
            <a:ext cx="2418047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Git</a:t>
            </a:r>
            <a:endParaRPr lang="en-US" altLang="ko-KR" sz="1800" dirty="0">
              <a:latin typeface="+mn-lt"/>
            </a:endParaRPr>
          </a:p>
          <a:p>
            <a:pPr algn="ctr"/>
            <a:r>
              <a:rPr lang="en-US" altLang="ko-KR" sz="1800" dirty="0">
                <a:latin typeface="+mn-lt"/>
              </a:rPr>
              <a:t>Config Repository</a:t>
            </a:r>
            <a:endParaRPr lang="en-US" altLang="ko-KR" dirty="0">
              <a:latin typeface="+mn-lt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45CD96E-B6D0-8DDD-2250-6517A6E5659E}"/>
              </a:ext>
            </a:extLst>
          </p:cNvPr>
          <p:cNvCxnSpPr>
            <a:cxnSpLocks/>
          </p:cNvCxnSpPr>
          <p:nvPr/>
        </p:nvCxnSpPr>
        <p:spPr>
          <a:xfrm>
            <a:off x="5859106" y="2271383"/>
            <a:ext cx="504352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417D2B-0564-9FDF-1F28-5E365E5A51E9}"/>
              </a:ext>
            </a:extLst>
          </p:cNvPr>
          <p:cNvCxnSpPr>
            <a:cxnSpLocks/>
          </p:cNvCxnSpPr>
          <p:nvPr/>
        </p:nvCxnSpPr>
        <p:spPr>
          <a:xfrm>
            <a:off x="4572000" y="3312234"/>
            <a:ext cx="65327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CA390104-C852-EB38-A07C-DCDD303C778A}"/>
              </a:ext>
            </a:extLst>
          </p:cNvPr>
          <p:cNvCxnSpPr>
            <a:cxnSpLocks/>
          </p:cNvCxnSpPr>
          <p:nvPr/>
        </p:nvCxnSpPr>
        <p:spPr>
          <a:xfrm>
            <a:off x="4586412" y="4843128"/>
            <a:ext cx="65327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0588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72F02-1009-A454-67A9-DDA42728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1C7C1A-9A81-EF5D-BAEE-D1268B028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Docker</a:t>
            </a:r>
            <a:r>
              <a:rPr lang="ko-KR" altLang="en-US" dirty="0"/>
              <a:t>에서 분산 시스템 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C6511-7C6F-3B17-98A5-647FD2D0BF7E}"/>
              </a:ext>
            </a:extLst>
          </p:cNvPr>
          <p:cNvSpPr txBox="1"/>
          <p:nvPr/>
        </p:nvSpPr>
        <p:spPr>
          <a:xfrm>
            <a:off x="1126822" y="5977417"/>
            <a:ext cx="7416824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Container</a:t>
            </a:r>
          </a:p>
          <a:p>
            <a:pPr algn="ctr"/>
            <a:r>
              <a:rPr lang="en-US" altLang="ko-KR" sz="1800" dirty="0">
                <a:latin typeface="+mn-lt"/>
              </a:rPr>
              <a:t>Docker</a:t>
            </a:r>
            <a:endParaRPr lang="ko-KR" altLang="en-US" sz="1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26920-57D6-FC2D-29B1-6C9A9584FD57}"/>
              </a:ext>
            </a:extLst>
          </p:cNvPr>
          <p:cNvSpPr txBox="1"/>
          <p:nvPr/>
        </p:nvSpPr>
        <p:spPr>
          <a:xfrm>
            <a:off x="1126822" y="1734849"/>
            <a:ext cx="360001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DB</a:t>
            </a:r>
          </a:p>
          <a:p>
            <a:pPr algn="ctr"/>
            <a:r>
              <a:rPr lang="en-US" altLang="ko-KR" sz="1800" dirty="0">
                <a:latin typeface="+mn-lt"/>
              </a:rPr>
              <a:t>Port:27017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9E5BD2-492E-DB87-AE4A-0F9488F8239F}"/>
              </a:ext>
            </a:extLst>
          </p:cNvPr>
          <p:cNvSpPr txBox="1"/>
          <p:nvPr/>
        </p:nvSpPr>
        <p:spPr>
          <a:xfrm>
            <a:off x="1126862" y="4261090"/>
            <a:ext cx="359997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User-service</a:t>
            </a:r>
          </a:p>
          <a:p>
            <a:pPr algn="ctr"/>
            <a:r>
              <a:rPr lang="en-US" altLang="ko-KR" sz="1800" dirty="0">
                <a:latin typeface="+mn-lt"/>
              </a:rPr>
              <a:t>Port:8060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BBFAE-63FF-6E93-9E9C-74EB06E7D439}"/>
              </a:ext>
            </a:extLst>
          </p:cNvPr>
          <p:cNvSpPr txBox="1"/>
          <p:nvPr/>
        </p:nvSpPr>
        <p:spPr>
          <a:xfrm>
            <a:off x="4943630" y="1734849"/>
            <a:ext cx="360001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AMQP</a:t>
            </a:r>
          </a:p>
          <a:p>
            <a:pPr algn="ctr"/>
            <a:r>
              <a:rPr lang="en-US" altLang="ko-KR" sz="1800" dirty="0">
                <a:latin typeface="+mn-lt"/>
              </a:rPr>
              <a:t>Port:5672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07AE0-7940-8BC8-2EDC-C9228BE1E1F5}"/>
              </a:ext>
            </a:extLst>
          </p:cNvPr>
          <p:cNvSpPr txBox="1"/>
          <p:nvPr/>
        </p:nvSpPr>
        <p:spPr>
          <a:xfrm>
            <a:off x="4943630" y="4261090"/>
            <a:ext cx="359997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Event-service</a:t>
            </a:r>
          </a:p>
          <a:p>
            <a:pPr algn="ctr"/>
            <a:r>
              <a:rPr lang="en-US" altLang="ko-KR" sz="1800" dirty="0">
                <a:latin typeface="+mn-lt"/>
              </a:rPr>
              <a:t>Port</a:t>
            </a:r>
            <a:r>
              <a:rPr lang="en-US" altLang="ko-KR" sz="1800">
                <a:latin typeface="+mn-lt"/>
              </a:rPr>
              <a:t>:8070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E0710-9479-78CC-AA51-D9B14D0B8D96}"/>
              </a:ext>
            </a:extLst>
          </p:cNvPr>
          <p:cNvSpPr txBox="1"/>
          <p:nvPr/>
        </p:nvSpPr>
        <p:spPr>
          <a:xfrm>
            <a:off x="1126822" y="3422146"/>
            <a:ext cx="7416824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Eureka-server</a:t>
            </a:r>
          </a:p>
          <a:p>
            <a:pPr algn="ctr"/>
            <a:r>
              <a:rPr lang="en-US" altLang="ko-KR" sz="1800" dirty="0">
                <a:latin typeface="+mn-lt"/>
              </a:rPr>
              <a:t>Port:8761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1C3E62-0181-5ED9-9D28-E450CFDEEC7B}"/>
              </a:ext>
            </a:extLst>
          </p:cNvPr>
          <p:cNvSpPr txBox="1"/>
          <p:nvPr/>
        </p:nvSpPr>
        <p:spPr>
          <a:xfrm>
            <a:off x="1126822" y="2583182"/>
            <a:ext cx="7416824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Config-server</a:t>
            </a:r>
          </a:p>
          <a:p>
            <a:pPr algn="ctr"/>
            <a:r>
              <a:rPr lang="en-US" altLang="ko-KR" sz="1800" dirty="0">
                <a:latin typeface="+mn-lt"/>
              </a:rPr>
              <a:t>Port:8888</a:t>
            </a:r>
            <a:endParaRPr lang="ko-KR" altLang="en-US" sz="1800" dirty="0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A99B6-E468-BD88-AD1A-A544EF6DE1D6}"/>
              </a:ext>
            </a:extLst>
          </p:cNvPr>
          <p:cNvSpPr txBox="1"/>
          <p:nvPr/>
        </p:nvSpPr>
        <p:spPr>
          <a:xfrm>
            <a:off x="1126822" y="5097167"/>
            <a:ext cx="7416824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n-lt"/>
              </a:rPr>
              <a:t>Edge-server</a:t>
            </a:r>
          </a:p>
          <a:p>
            <a:pPr algn="ctr"/>
            <a:r>
              <a:rPr lang="en-US" altLang="ko-KR" sz="1800" dirty="0">
                <a:latin typeface="+mn-lt"/>
              </a:rPr>
              <a:t>Port:8080</a:t>
            </a:r>
            <a:endParaRPr lang="ko-KR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035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9398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실사대비 보고자료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99FF"/>
      </a:hlink>
      <a:folHlink>
        <a:srgbClr val="B2B2B2"/>
      </a:folHlink>
    </a:clrScheme>
    <a:fontScheme name="실사대비 보고자료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spDef>
    <a:ln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실사대비 보고자료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19383</TotalTime>
  <Words>299</Words>
  <Application>Microsoft Office PowerPoint</Application>
  <PresentationFormat>화면 슬라이드 쇼(4:3)</PresentationFormat>
  <Paragraphs>88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HY헤드라인M</vt:lpstr>
      <vt:lpstr>굴림</vt:lpstr>
      <vt:lpstr>맑은 고딕</vt:lpstr>
      <vt:lpstr>Arial</vt:lpstr>
      <vt:lpstr>Times New Roman</vt:lpstr>
      <vt:lpstr>Wingdings</vt:lpstr>
      <vt:lpstr>Default Theme</vt:lpstr>
      <vt:lpstr>논문 프로젝트</vt:lpstr>
      <vt:lpstr>목차</vt:lpstr>
      <vt:lpstr>프로젝트 현 상황</vt:lpstr>
      <vt:lpstr>프로젝트 현 상황</vt:lpstr>
      <vt:lpstr>프로젝트 현 상황</vt:lpstr>
      <vt:lpstr>쿠버네티스에서 Rook-Ceph</vt:lpstr>
      <vt:lpstr>논문 주제 및 제목</vt:lpstr>
      <vt:lpstr>프로젝트 구조</vt:lpstr>
      <vt:lpstr>프로젝트 구조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1234</dc:title>
  <dc:creator>Nineking</dc:creator>
  <cp:lastModifiedBy>유동균</cp:lastModifiedBy>
  <cp:revision>696</cp:revision>
  <cp:lastPrinted>2016-11-01T07:29:09Z</cp:lastPrinted>
  <dcterms:created xsi:type="dcterms:W3CDTF">2013-09-09T21:16:08Z</dcterms:created>
  <dcterms:modified xsi:type="dcterms:W3CDTF">2025-03-30T12:51:19Z</dcterms:modified>
</cp:coreProperties>
</file>